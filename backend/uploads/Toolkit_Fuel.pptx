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762" r:id="rId5"/>
    <p:sldMasterId id="2147483776" r:id="rId6"/>
  </p:sldMasterIdLst>
  <p:notesMasterIdLst>
    <p:notesMasterId r:id="rId25"/>
  </p:notesMasterIdLst>
  <p:handoutMasterIdLst>
    <p:handoutMasterId r:id="rId26"/>
  </p:handoutMasterIdLst>
  <p:sldIdLst>
    <p:sldId id="1153" r:id="rId7"/>
    <p:sldId id="1304" r:id="rId8"/>
    <p:sldId id="4345" r:id="rId9"/>
    <p:sldId id="4332" r:id="rId10"/>
    <p:sldId id="4334" r:id="rId11"/>
    <p:sldId id="4335" r:id="rId12"/>
    <p:sldId id="4336" r:id="rId13"/>
    <p:sldId id="4359" r:id="rId14"/>
    <p:sldId id="4360" r:id="rId15"/>
    <p:sldId id="4341" r:id="rId16"/>
    <p:sldId id="4342" r:id="rId17"/>
    <p:sldId id="4344" r:id="rId18"/>
    <p:sldId id="4347" r:id="rId19"/>
    <p:sldId id="4350" r:id="rId20"/>
    <p:sldId id="4352" r:id="rId21"/>
    <p:sldId id="4362" r:id="rId22"/>
    <p:sldId id="4363" r:id="rId23"/>
    <p:sldId id="4361" r:id="rId24"/>
  </p:sldIdLst>
  <p:sldSz cx="12192000" cy="6858000"/>
  <p:notesSz cx="7023100" cy="9309100"/>
  <p:custDataLst>
    <p:tags r:id="rId27"/>
  </p:custDataLst>
  <p:defaultTextStyle>
    <a:defPPr>
      <a:defRPr lang="en-US"/>
    </a:defPPr>
    <a:lvl1pPr marL="0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7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2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85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42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00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57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1754463-30FA-824E-9681-17E0926DDDD5}">
          <p14:sldIdLst>
            <p14:sldId id="1153"/>
            <p14:sldId id="1304"/>
            <p14:sldId id="4345"/>
            <p14:sldId id="4332"/>
            <p14:sldId id="4334"/>
            <p14:sldId id="4335"/>
            <p14:sldId id="4336"/>
            <p14:sldId id="4359"/>
            <p14:sldId id="4360"/>
            <p14:sldId id="4341"/>
            <p14:sldId id="4342"/>
            <p14:sldId id="4344"/>
            <p14:sldId id="4347"/>
            <p14:sldId id="4350"/>
            <p14:sldId id="4352"/>
            <p14:sldId id="4362"/>
            <p14:sldId id="4363"/>
            <p14:sldId id="43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44" userDrawn="1">
          <p15:clr>
            <a:srgbClr val="A4A3A4"/>
          </p15:clr>
        </p15:guide>
        <p15:guide id="2" pos="2124" userDrawn="1">
          <p15:clr>
            <a:srgbClr val="A4A3A4"/>
          </p15:clr>
        </p15:guide>
        <p15:guide id="3" orient="horz" pos="2932" userDrawn="1">
          <p15:clr>
            <a:srgbClr val="A4A3A4"/>
          </p15:clr>
        </p15:guide>
        <p15:guide id="4" pos="221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268FA7-36FA-7F93-E320-2B2AE8F0B00B}" name="Spatafora, Nikola" initials="NLS" userId="Spatafora, Nikola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Spofford, Laura" initials="SL" lastIdx="2" clrIdx="6">
    <p:extLst>
      <p:ext uri="{19B8F6BF-5375-455C-9EA6-DF929625EA0E}">
        <p15:presenceInfo xmlns:p15="http://schemas.microsoft.com/office/powerpoint/2012/main" userId="S::lspofford@imf.org::729f3023-7458-4886-8b15-5f4e1b9d797d" providerId="AD"/>
      </p:ext>
    </p:extLst>
  </p:cmAuthor>
  <p:cmAuthor id="1" name="Nandwa, Boaz" initials="NB" lastIdx="10" clrIdx="0"/>
  <p:cmAuthor id="8" name="Newiak, Monique" initials="NM" lastIdx="0" clrIdx="7">
    <p:extLst>
      <p:ext uri="{19B8F6BF-5375-455C-9EA6-DF929625EA0E}">
        <p15:presenceInfo xmlns:p15="http://schemas.microsoft.com/office/powerpoint/2012/main" userId="S::MNewiak@IMF.ORG::d81357e1-9dfe-4194-af64-4cbd758c7fe5" providerId="AD"/>
      </p:ext>
    </p:extLst>
  </p:cmAuthor>
  <p:cmAuthor id="2" name="Kamil Dybczak" initials="KD" lastIdx="10" clrIdx="1"/>
  <p:cmAuthor id="9" name="Kazandjian, Romina" initials="KR" lastIdx="4" clrIdx="8">
    <p:extLst>
      <p:ext uri="{19B8F6BF-5375-455C-9EA6-DF929625EA0E}">
        <p15:presenceInfo xmlns:p15="http://schemas.microsoft.com/office/powerpoint/2012/main" userId="S::RKazandjian@imf.org::981dfeef-ec4e-4cfc-812b-25e2594e53c9" providerId="AD"/>
      </p:ext>
    </p:extLst>
  </p:cmAuthor>
  <p:cmAuthor id="3" name="Tamirisa, Natalia" initials="TN" lastIdx="12" clrIdx="2"/>
  <p:cmAuthor id="10" name="Spatafora, Nikola" initials="NLS" lastIdx="53" clrIdx="9">
    <p:extLst>
      <p:ext uri="{19B8F6BF-5375-455C-9EA6-DF929625EA0E}">
        <p15:presenceInfo xmlns:p15="http://schemas.microsoft.com/office/powerpoint/2012/main" userId="Spatafora, Nikola" providerId="None"/>
      </p:ext>
    </p:extLst>
  </p:cmAuthor>
  <p:cmAuthor id="4" name="Almalik, Mansour" initials="AM" lastIdx="6" clrIdx="3"/>
  <p:cmAuthor id="5" name="Pierre, Gaelle" initials="PG" lastIdx="3" clrIdx="4"/>
  <p:cmAuthor id="6" name="Basile, Gregory" initials="BG" lastIdx="9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25D129"/>
    <a:srgbClr val="5E8AB4"/>
    <a:srgbClr val="E46C0A"/>
    <a:srgbClr val="DC4234"/>
    <a:srgbClr val="00AEB3"/>
    <a:srgbClr val="FFCC00"/>
    <a:srgbClr val="ED7D31"/>
    <a:srgbClr val="A6A6A6"/>
    <a:srgbClr val="70A8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DCF0E-18EC-4F67-A7AA-D96A8CD132D3}" v="1" dt="2023-11-02T22:17:05.458"/>
    <p1510:client id="{549FDF1C-6844-4A81-9929-92E01EF95D52}" v="2990" dt="2023-11-02T18:33:30.9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44"/>
        <p:guide pos="2124"/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8/10/relationships/authors" Target="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2" y="12"/>
            <a:ext cx="3043447" cy="464977"/>
          </a:xfrm>
          <a:prstGeom prst="rect">
            <a:avLst/>
          </a:prstGeom>
        </p:spPr>
        <p:txBody>
          <a:bodyPr vert="horz" lIns="91239" tIns="45618" rIns="91239" bIns="4561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2" y="8842547"/>
            <a:ext cx="3043447" cy="464977"/>
          </a:xfrm>
          <a:prstGeom prst="rect">
            <a:avLst/>
          </a:prstGeom>
        </p:spPr>
        <p:txBody>
          <a:bodyPr vert="horz" lIns="91239" tIns="45618" rIns="91239" bIns="4561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075" y="8842547"/>
            <a:ext cx="3043447" cy="464977"/>
          </a:xfrm>
          <a:prstGeom prst="rect">
            <a:avLst/>
          </a:prstGeom>
        </p:spPr>
        <p:txBody>
          <a:bodyPr vert="horz" lIns="91239" tIns="45618" rIns="91239" bIns="45618" rtlCol="0" anchor="b"/>
          <a:lstStyle>
            <a:lvl1pPr algn="r">
              <a:defRPr sz="1200"/>
            </a:lvl1pPr>
          </a:lstStyle>
          <a:p>
            <a:fld id="{70787CFD-D5C7-455D-B121-683BFE13FBD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8984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6"/>
            <a:ext cx="3043343" cy="465455"/>
          </a:xfrm>
          <a:prstGeom prst="rect">
            <a:avLst/>
          </a:prstGeom>
        </p:spPr>
        <p:txBody>
          <a:bodyPr vert="horz" lIns="93134" tIns="46567" rIns="93134" bIns="4656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9" y="6"/>
            <a:ext cx="3043343" cy="465455"/>
          </a:xfrm>
          <a:prstGeom prst="rect">
            <a:avLst/>
          </a:prstGeom>
        </p:spPr>
        <p:txBody>
          <a:bodyPr vert="horz" lIns="93134" tIns="46567" rIns="93134" bIns="46567" rtlCol="0"/>
          <a:lstStyle>
            <a:lvl1pPr algn="r">
              <a:defRPr sz="1200"/>
            </a:lvl1pPr>
          </a:lstStyle>
          <a:p>
            <a:fld id="{F2FB1009-8102-467C-88A3-A8200E3708E5}" type="datetime1">
              <a:rPr lang="en-US" smtClean="0"/>
              <a:t>11/8/2023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39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4" tIns="46567" rIns="93134" bIns="4656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3" y="4421825"/>
            <a:ext cx="5618480" cy="4189095"/>
          </a:xfrm>
          <a:prstGeom prst="rect">
            <a:avLst/>
          </a:prstGeom>
        </p:spPr>
        <p:txBody>
          <a:bodyPr vert="horz" lIns="93134" tIns="46567" rIns="93134" bIns="4656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42036"/>
            <a:ext cx="3043343" cy="465455"/>
          </a:xfrm>
          <a:prstGeom prst="rect">
            <a:avLst/>
          </a:prstGeom>
        </p:spPr>
        <p:txBody>
          <a:bodyPr vert="horz" lIns="93134" tIns="46567" rIns="93134" bIns="4656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9" y="8842036"/>
            <a:ext cx="3043343" cy="465455"/>
          </a:xfrm>
          <a:prstGeom prst="rect">
            <a:avLst/>
          </a:prstGeom>
        </p:spPr>
        <p:txBody>
          <a:bodyPr vert="horz" lIns="93134" tIns="46567" rIns="93134" bIns="46567" rtlCol="0" anchor="b"/>
          <a:lstStyle>
            <a:lvl1pPr algn="r">
              <a:defRPr sz="1200"/>
            </a:lvl1pPr>
          </a:lstStyle>
          <a:p>
            <a:fld id="{BA49F774-CCF9-492C-9AEB-F2814D4A662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1023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7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2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5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2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0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57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B9B78-73FE-4DA1-81AD-EEA68D15F9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28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In this lecture, we will:</a:t>
            </a:r>
          </a:p>
          <a:p>
            <a:pPr marL="0" marR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180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285750" marR="0" lvl="0" indent="-28575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Discuss the different dimensions of gender inequality.</a:t>
            </a:r>
          </a:p>
          <a:p>
            <a:pPr marL="0" marR="0" lvl="0" indent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80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285750" marR="0" lvl="0" indent="-28575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Analyze key trends across countries and over time in gender inequality, incl. the impact of COVID-19.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2FB1009-8102-467C-88A3-A8200E3708E5}" type="datetime1">
              <a:rPr lang="en-US" smtClean="0"/>
              <a:t>11/8/2023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89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119"/>
          <a:stretch/>
        </p:blipFill>
        <p:spPr>
          <a:xfrm>
            <a:off x="5623560" y="749808"/>
            <a:ext cx="1095647" cy="114315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46B1B04-9B4F-40A9-ADCB-3504786A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799" userDrawn="1">
          <p15:clr>
            <a:srgbClr val="FBAE40"/>
          </p15:clr>
        </p15:guide>
        <p15:guide id="3" pos="3600" userDrawn="1">
          <p15:clr>
            <a:srgbClr val="FBAE40"/>
          </p15:clr>
        </p15:guide>
        <p15:guide id="4" pos="30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t. 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41048" y="1940930"/>
            <a:ext cx="5515284" cy="2239337"/>
          </a:xfrm>
        </p:spPr>
        <p:txBody>
          <a:bodyPr lIns="0" tIns="0" rIns="0" bIns="45720" anchor="b" anchorCtr="0">
            <a:normAutofit/>
          </a:bodyPr>
          <a:lstStyle>
            <a:lvl1pPr algn="l">
              <a:lnSpc>
                <a:spcPct val="95000"/>
              </a:lnSpc>
              <a:defRPr sz="4000" b="0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Presentation Title up to three lines in length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97D2D33-B99A-B046-B49A-16CB982B1B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23560" y="749808"/>
            <a:ext cx="3666226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18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  <p15:guide id="5" pos="3632" userDrawn="1">
          <p15:clr>
            <a:srgbClr val="FBAE40"/>
          </p15:clr>
        </p15:guide>
        <p15:guide id="6" orient="horz" pos="83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119"/>
          <a:stretch/>
        </p:blipFill>
        <p:spPr>
          <a:xfrm>
            <a:off x="5623560" y="749808"/>
            <a:ext cx="1095647" cy="114315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46B1B04-9B4F-40A9-ADCB-3504786A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799" userDrawn="1">
          <p15:clr>
            <a:srgbClr val="FBAE40"/>
          </p15:clr>
        </p15:guide>
        <p15:guide id="3" pos="3600" userDrawn="1">
          <p15:clr>
            <a:srgbClr val="FBAE40"/>
          </p15:clr>
        </p15:guide>
        <p15:guide id="4" pos="308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t. 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41048" y="1940930"/>
            <a:ext cx="5515284" cy="2239337"/>
          </a:xfrm>
        </p:spPr>
        <p:txBody>
          <a:bodyPr lIns="0" tIns="0" rIns="0" bIns="45720" anchor="b" anchorCtr="0">
            <a:normAutofit/>
          </a:bodyPr>
          <a:lstStyle>
            <a:lvl1pPr algn="l">
              <a:lnSpc>
                <a:spcPct val="95000"/>
              </a:lnSpc>
              <a:defRPr sz="4000" b="0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Presentation Title up to three lines in length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97D2D33-B99A-B046-B49A-16CB982B1B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23560" y="749808"/>
            <a:ext cx="3666226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18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  <p15:guide id="5" pos="3632" userDrawn="1">
          <p15:clr>
            <a:srgbClr val="FBAE40"/>
          </p15:clr>
        </p15:guide>
        <p15:guide id="6" orient="horz" pos="83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Cyan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CCFC-0C7C-7E42-AAEE-3FB70C592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5400" y="1371600"/>
            <a:ext cx="9601200" cy="41148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for Divider (Cyan)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87336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Green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CCFC-0C7C-7E42-AAEE-3FB70C592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5400" y="1371600"/>
            <a:ext cx="9601200" cy="41148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for Divider (Green)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59108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Yellow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CCFC-0C7C-7E42-AAEE-3FB70C592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5400" y="1371600"/>
            <a:ext cx="9601200" cy="41148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for Divider (Yellow)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9912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6DC936A-9C43-D84B-9C24-0185515D689C}"/>
              </a:ext>
            </a:extLst>
          </p:cNvPr>
          <p:cNvSpPr/>
          <p:nvPr userDrawn="1"/>
        </p:nvSpPr>
        <p:spPr>
          <a:xfrm>
            <a:off x="-1" y="6638778"/>
            <a:ext cx="12192001" cy="2192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CE3741-921D-834E-8354-54991BEB2B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35964" y="683639"/>
            <a:ext cx="9372600" cy="5486400"/>
          </a:xfrm>
        </p:spPr>
        <p:txBody>
          <a:bodyPr tIns="0" bIns="365760" anchor="ctr" anchorCtr="0"/>
          <a:lstStyle>
            <a:lvl1pPr>
              <a:spcBef>
                <a:spcPts val="0"/>
              </a:spcBef>
              <a:spcAft>
                <a:spcPts val="2400"/>
              </a:spcAft>
              <a:buClrTx/>
              <a:defRPr sz="3400" b="0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342900" indent="-342900">
              <a:spcBef>
                <a:spcPts val="900"/>
              </a:spcBef>
              <a:spcAft>
                <a:spcPts val="0"/>
              </a:spcAft>
              <a:buClrTx/>
              <a:tabLst/>
              <a:defRPr sz="3200" b="0">
                <a:solidFill>
                  <a:schemeClr val="bg1"/>
                </a:solidFill>
              </a:defRPr>
            </a:lvl2pPr>
            <a:lvl3pPr marL="342900" indent="-342900">
              <a:spcBef>
                <a:spcPts val="9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3pPr>
            <a:lvl4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0">
                <a:solidFill>
                  <a:schemeClr val="bg1"/>
                </a:solidFill>
              </a:defRPr>
            </a:lvl4pPr>
            <a:lvl5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/>
              <a:t>Title for Divider–Agenda</a:t>
            </a:r>
          </a:p>
          <a:p>
            <a:pPr lvl="1"/>
            <a:r>
              <a:rPr lang="en-US"/>
              <a:t>Agenda Item—Inactive</a:t>
            </a:r>
          </a:p>
          <a:p>
            <a:pPr lvl="2"/>
            <a:r>
              <a:rPr lang="en-US"/>
              <a:t>Agenda Item—Active</a:t>
            </a:r>
          </a:p>
          <a:p>
            <a:pPr lvl="3"/>
            <a:r>
              <a:rPr lang="en-US"/>
              <a:t>Second level</a:t>
            </a:r>
          </a:p>
          <a:p>
            <a:pPr lvl="4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83390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99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79914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Single-Column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8080275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81" userDrawn="1">
          <p15:clr>
            <a:srgbClr val="FBAE40"/>
          </p15:clr>
        </p15:guide>
        <p15:guide id="4" pos="690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Two-Column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BF7038D-D496-7248-87EC-9540380F1D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2198208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+Text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Photo+Text</a:t>
            </a:r>
            <a:r>
              <a:rPr lang="en-US"/>
              <a:t> (W)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 marL="917575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marL="917575" marR="0" lvl="4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/>
            </a:pPr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39838" y="1669499"/>
            <a:ext cx="4856162" cy="44805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9839" y="5889219"/>
            <a:ext cx="4856162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5367013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40806" y="491385"/>
            <a:ext cx="3670259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4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Text+Photo</a:t>
            </a:r>
            <a:r>
              <a:rPr lang="en-US"/>
              <a:t>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806" y="1469871"/>
            <a:ext cx="3670259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7569D7D-6010-454B-A86B-B6C69D7E2E6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191000" y="-1"/>
            <a:ext cx="8001000" cy="6629400"/>
          </a:xfrm>
          <a:solidFill>
            <a:schemeClr val="bg1">
              <a:lumMod val="90000"/>
            </a:schemeClr>
          </a:solidFill>
        </p:spPr>
        <p:txBody>
          <a:bodyPr tIns="0" bIns="27432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D26CCD3-E500-1F49-8DD8-1545E2CBF0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5400000">
            <a:off x="8746884" y="3184281"/>
            <a:ext cx="6629396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40165849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+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Photo+Photo</a:t>
            </a:r>
            <a:r>
              <a:rPr lang="en-US"/>
              <a:t> (W) Layout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69871"/>
            <a:ext cx="6096000" cy="42519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57E259A3-746A-2044-822B-3F7D859E7F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439" y="1469871"/>
            <a:ext cx="6096000" cy="42519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3F54B41-918E-644B-B610-DDE8277FB2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3440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6085019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+Title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27426-24A7-3845-8E05-8360D202A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5349453"/>
            <a:ext cx="12192000" cy="1508547"/>
          </a:xfrm>
          <a:prstGeom prst="rect">
            <a:avLst/>
          </a:prstGeom>
        </p:spPr>
        <p:txBody>
          <a:bodyPr vert="horz" lIns="457200" tIns="182880" rIns="457200" bIns="182880" rtlCol="0" anchor="t" anchorCtr="0">
            <a:noAutofit/>
          </a:bodyPr>
          <a:lstStyle>
            <a:lvl1pPr algn="ctr">
              <a:defRPr lang="en-US" sz="24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Large Photo (W) Layout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349875"/>
          </a:xfrm>
          <a:solidFill>
            <a:schemeClr val="bg1">
              <a:lumMod val="90000"/>
            </a:schemeClr>
          </a:solidFill>
        </p:spPr>
        <p:txBody>
          <a:bodyPr tIns="0" bIns="20574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386856" y="2544308"/>
            <a:ext cx="5349451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1687998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ra-Large Photo+Title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172200"/>
          </a:xfrm>
          <a:solidFill>
            <a:schemeClr val="bg1">
              <a:lumMod val="90000"/>
            </a:schemeClr>
          </a:solidFill>
        </p:spPr>
        <p:txBody>
          <a:bodyPr tIns="0" bIns="256032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8975483" y="2955682"/>
            <a:ext cx="6172198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27426-24A7-3845-8E05-8360D202A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6172200"/>
            <a:ext cx="12202245" cy="685800"/>
          </a:xfrm>
          <a:prstGeom prst="rect">
            <a:avLst/>
          </a:prstGeom>
        </p:spPr>
        <p:txBody>
          <a:bodyPr vert="horz" lIns="457200" tIns="91440" rIns="457200" bIns="182880" rtlCol="0" anchor="t" anchorCtr="0">
            <a:normAutofit/>
          </a:bodyPr>
          <a:lstStyle>
            <a:lvl1pPr algn="ctr">
              <a:defRPr lang="en-US" sz="22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Extra-Large </a:t>
            </a:r>
            <a:r>
              <a:rPr lang="en-US" err="1"/>
              <a:t>Photo+Title</a:t>
            </a:r>
            <a:r>
              <a:rPr lang="en-US"/>
              <a:t> (W) Layout</a:t>
            </a:r>
          </a:p>
        </p:txBody>
      </p:sp>
    </p:spTree>
    <p:extLst>
      <p:ext uri="{BB962C8B-B14F-4D97-AF65-F5344CB8AC3E}">
        <p14:creationId xmlns:p14="http://schemas.microsoft.com/office/powerpoint/2010/main" val="11519002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ra-Large 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583680"/>
          </a:xfrm>
          <a:solidFill>
            <a:schemeClr val="bg1">
              <a:lumMod val="90000"/>
            </a:schemeClr>
          </a:solidFill>
        </p:spPr>
        <p:txBody>
          <a:bodyPr tIns="0" bIns="27432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8769743" y="3161422"/>
            <a:ext cx="6583678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4016884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ngle-Column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Single-Column (B)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 marL="0" marR="0" indent="0" algn="l" defTabSz="914314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 charset="2"/>
              <a:buNone/>
              <a:tabLst/>
              <a:defRPr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 charset="2"/>
              <a:buNone/>
              <a:tabLst/>
              <a:defRPr/>
            </a:pPr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FD9C8-9F14-B64C-88D7-AFEADAB39B39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2685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-Column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Two-Column (B)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62889-E692-BF4A-B8C8-D6FF23EE4CF0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B5B26B-2A1F-084E-BAF6-BEA91A8E38A5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538"/>
            <a:ext cx="0" cy="4425462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1589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+Text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Photo+Text</a:t>
            </a:r>
            <a:r>
              <a:rPr lang="en-US"/>
              <a:t> (B)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62889-E692-BF4A-B8C8-D6FF23EE4CF0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DC7D600-7783-1F4F-AD62-06B784E129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9838" y="1672046"/>
            <a:ext cx="4855464" cy="4480560"/>
          </a:xfrm>
          <a:solidFill>
            <a:schemeClr val="tx2">
              <a:lumMod val="5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3893C67-9BAE-6946-9896-78E2472B0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9838" y="5891766"/>
            <a:ext cx="4855464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11157693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1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+Photo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Photo+Photo</a:t>
            </a:r>
            <a:r>
              <a:rPr lang="en-US"/>
              <a:t> (B) Layout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69871"/>
            <a:ext cx="6096000" cy="4251960"/>
          </a:xfrm>
          <a:solidFill>
            <a:schemeClr val="tx2">
              <a:lumMod val="5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57E259A3-746A-2044-822B-3F7D859E7F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439" y="1469871"/>
            <a:ext cx="6096000" cy="4251960"/>
          </a:xfrm>
          <a:solidFill>
            <a:schemeClr val="tx2">
              <a:lumMod val="5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3F54B41-918E-644B-B610-DDE8277FB2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3440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7CAC3A-914C-D94C-9254-C253E5803F2C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261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-Photo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0" y="5349450"/>
            <a:ext cx="12191999" cy="1508547"/>
          </a:xfrm>
          <a:prstGeom prst="rect">
            <a:avLst/>
          </a:prstGeom>
        </p:spPr>
        <p:txBody>
          <a:bodyPr vert="horz" lIns="457200" tIns="182880" rIns="457200" bIns="182880" rtlCol="0" anchor="t">
            <a:normAutofit/>
          </a:bodyPr>
          <a:lstStyle>
            <a:lvl1pPr algn="ctr">
              <a:defRPr lang="en-US" sz="24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Large-Photo (B)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7DE7E-D5A7-934A-BDAA-810E25C7A25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349875"/>
          </a:xfrm>
          <a:solidFill>
            <a:schemeClr val="tx2">
              <a:lumMod val="50000"/>
            </a:schemeClr>
          </a:solidFill>
        </p:spPr>
        <p:txBody>
          <a:bodyPr tIns="0" bIns="2057400" anchor="b"/>
          <a:lstStyle>
            <a:lvl1pPr algn="ctr">
              <a:defRPr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6E3DB-FA3A-7842-8A68-4AE4AACEC5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386856" y="2544308"/>
            <a:ext cx="5349451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58205F-7910-2A4D-9D13-3F4027CE12D3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125"/>
          <a:stretch/>
        </p:blipFill>
        <p:spPr>
          <a:xfrm>
            <a:off x="5623560" y="749808"/>
            <a:ext cx="1103811" cy="114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704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125"/>
          <a:stretch/>
        </p:blipFill>
        <p:spPr>
          <a:xfrm>
            <a:off x="5623560" y="749808"/>
            <a:ext cx="1103811" cy="114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704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RTTAC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3E802-0087-4A88-B9F3-B27074E51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256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0EF9D1-8FE4-4A6C-8373-E5034EFA4A90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4E6205-D9A5-4D27-BFB4-F7BCEB65A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08059" y="3079268"/>
            <a:ext cx="6567856" cy="34967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3B1E383-8E3E-4961-9E67-7569E541E23B}"/>
              </a:ext>
            </a:extLst>
          </p:cNvPr>
          <p:cNvSpPr/>
          <p:nvPr/>
        </p:nvSpPr>
        <p:spPr>
          <a:xfrm>
            <a:off x="-7068" y="6538035"/>
            <a:ext cx="12273893" cy="365125"/>
          </a:xfrm>
          <a:prstGeom prst="rect">
            <a:avLst/>
          </a:prstGeom>
          <a:solidFill>
            <a:srgbClr val="F2A900"/>
          </a:solidFill>
          <a:ln>
            <a:solidFill>
              <a:srgbClr val="F2A90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/>
          </a:p>
        </p:txBody>
      </p:sp>
      <p:sp>
        <p:nvSpPr>
          <p:cNvPr id="18" name="Text Box 2">
            <a:extLst>
              <a:ext uri="{FF2B5EF4-FFF2-40B4-BE49-F238E27FC236}">
                <a16:creationId xmlns:a16="http://schemas.microsoft.com/office/drawing/2014/main" id="{9327A731-E579-490F-A267-6AACC1A09895}"/>
              </a:ext>
            </a:extLst>
          </p:cNvPr>
          <p:cNvSpPr txBox="1"/>
          <p:nvPr/>
        </p:nvSpPr>
        <p:spPr>
          <a:xfrm>
            <a:off x="106544" y="4244701"/>
            <a:ext cx="1987550" cy="4191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600" b="1" cap="small" baseline="0">
                <a:solidFill>
                  <a:srgbClr val="FFFFFF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member countries</a:t>
            </a:r>
            <a:endParaRPr lang="en-US" sz="1600" b="1" cap="small" baseline="0">
              <a:effectLst/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D74BBD-1874-42BC-AB24-65343EF71610}"/>
              </a:ext>
            </a:extLst>
          </p:cNvPr>
          <p:cNvCxnSpPr>
            <a:cxnSpLocks/>
          </p:cNvCxnSpPr>
          <p:nvPr/>
        </p:nvCxnSpPr>
        <p:spPr>
          <a:xfrm flipV="1">
            <a:off x="186553" y="4584288"/>
            <a:ext cx="4833204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Box 2">
            <a:extLst>
              <a:ext uri="{FF2B5EF4-FFF2-40B4-BE49-F238E27FC236}">
                <a16:creationId xmlns:a16="http://schemas.microsoft.com/office/drawing/2014/main" id="{B6760F4B-0E53-4873-811E-91CFF0C3FA44}"/>
              </a:ext>
            </a:extLst>
          </p:cNvPr>
          <p:cNvSpPr txBox="1"/>
          <p:nvPr/>
        </p:nvSpPr>
        <p:spPr>
          <a:xfrm>
            <a:off x="80042" y="5422821"/>
            <a:ext cx="2531412" cy="4191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600" b="1" cap="small" baseline="0">
                <a:solidFill>
                  <a:srgbClr val="FFFFFF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development partners</a:t>
            </a:r>
            <a:endParaRPr lang="en-US" sz="1600" b="1" cap="small" baseline="0">
              <a:effectLst/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AE5E040-1BD7-4446-A6F1-1EBE8A0590EA}"/>
              </a:ext>
            </a:extLst>
          </p:cNvPr>
          <p:cNvCxnSpPr>
            <a:cxnSpLocks/>
          </p:cNvCxnSpPr>
          <p:nvPr/>
        </p:nvCxnSpPr>
        <p:spPr>
          <a:xfrm flipV="1">
            <a:off x="160051" y="5760417"/>
            <a:ext cx="4833204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Picture 78" descr="A picture containing text&#10;&#10;Description automatically generated">
            <a:extLst>
              <a:ext uri="{FF2B5EF4-FFF2-40B4-BE49-F238E27FC236}">
                <a16:creationId xmlns:a16="http://schemas.microsoft.com/office/drawing/2014/main" id="{6B05876D-8396-4524-AB44-3AC466521B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92" y="5820054"/>
            <a:ext cx="1522744" cy="369598"/>
          </a:xfrm>
          <a:prstGeom prst="rect">
            <a:avLst/>
          </a:prstGeom>
        </p:spPr>
      </p:pic>
      <p:sp>
        <p:nvSpPr>
          <p:cNvPr id="103" name="Text Box 2">
            <a:extLst>
              <a:ext uri="{FF2B5EF4-FFF2-40B4-BE49-F238E27FC236}">
                <a16:creationId xmlns:a16="http://schemas.microsoft.com/office/drawing/2014/main" id="{055F566B-93E6-4A71-B2B1-18231CC3E9FB}"/>
              </a:ext>
            </a:extLst>
          </p:cNvPr>
          <p:cNvSpPr txBox="1"/>
          <p:nvPr/>
        </p:nvSpPr>
        <p:spPr>
          <a:xfrm>
            <a:off x="164128" y="5093348"/>
            <a:ext cx="750318" cy="2479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800">
                <a:solidFill>
                  <a:srgbClr val="FFFFFF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Bangladesh</a:t>
            </a:r>
            <a:endParaRPr lang="en-US" sz="80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Text Box 2">
            <a:extLst>
              <a:ext uri="{FF2B5EF4-FFF2-40B4-BE49-F238E27FC236}">
                <a16:creationId xmlns:a16="http://schemas.microsoft.com/office/drawing/2014/main" id="{6A4F2024-16FB-41A6-91E1-ECDDF91FA78C}"/>
              </a:ext>
            </a:extLst>
          </p:cNvPr>
          <p:cNvSpPr txBox="1"/>
          <p:nvPr/>
        </p:nvSpPr>
        <p:spPr>
          <a:xfrm>
            <a:off x="1056253" y="5106079"/>
            <a:ext cx="530423" cy="2479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800">
                <a:solidFill>
                  <a:srgbClr val="FFFFFF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Bhutan</a:t>
            </a:r>
            <a:endParaRPr lang="en-US" sz="80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Text Box 2">
            <a:extLst>
              <a:ext uri="{FF2B5EF4-FFF2-40B4-BE49-F238E27FC236}">
                <a16:creationId xmlns:a16="http://schemas.microsoft.com/office/drawing/2014/main" id="{8FB12644-5B3A-45F7-8851-A9F07291388E}"/>
              </a:ext>
            </a:extLst>
          </p:cNvPr>
          <p:cNvSpPr txBox="1"/>
          <p:nvPr/>
        </p:nvSpPr>
        <p:spPr>
          <a:xfrm>
            <a:off x="1931593" y="5089364"/>
            <a:ext cx="496439" cy="2479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900">
                <a:solidFill>
                  <a:srgbClr val="FFFFFF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India</a:t>
            </a:r>
            <a:endParaRPr lang="en-US" sz="90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7" name="Text Box 2">
            <a:extLst>
              <a:ext uri="{FF2B5EF4-FFF2-40B4-BE49-F238E27FC236}">
                <a16:creationId xmlns:a16="http://schemas.microsoft.com/office/drawing/2014/main" id="{343B0394-3A95-499F-9024-683962B64689}"/>
              </a:ext>
            </a:extLst>
          </p:cNvPr>
          <p:cNvSpPr txBox="1"/>
          <p:nvPr/>
        </p:nvSpPr>
        <p:spPr>
          <a:xfrm>
            <a:off x="2673999" y="5108639"/>
            <a:ext cx="628679" cy="2479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800">
                <a:solidFill>
                  <a:srgbClr val="FFFFFF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Maldives</a:t>
            </a:r>
            <a:endParaRPr lang="en-US" sz="80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8" name="Text Box 2">
            <a:extLst>
              <a:ext uri="{FF2B5EF4-FFF2-40B4-BE49-F238E27FC236}">
                <a16:creationId xmlns:a16="http://schemas.microsoft.com/office/drawing/2014/main" id="{23D860F5-B5E6-4F02-B526-922F1D3D46FA}"/>
              </a:ext>
            </a:extLst>
          </p:cNvPr>
          <p:cNvSpPr txBox="1"/>
          <p:nvPr/>
        </p:nvSpPr>
        <p:spPr>
          <a:xfrm>
            <a:off x="3411254" y="5108639"/>
            <a:ext cx="491920" cy="2479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800">
                <a:solidFill>
                  <a:srgbClr val="FFFFFF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Nepal</a:t>
            </a:r>
            <a:endParaRPr lang="en-US" sz="80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9" name="Text Box 2">
            <a:extLst>
              <a:ext uri="{FF2B5EF4-FFF2-40B4-BE49-F238E27FC236}">
                <a16:creationId xmlns:a16="http://schemas.microsoft.com/office/drawing/2014/main" id="{BA7AD0F8-FCBA-4156-AFB1-F623DB42E273}"/>
              </a:ext>
            </a:extLst>
          </p:cNvPr>
          <p:cNvSpPr txBox="1"/>
          <p:nvPr/>
        </p:nvSpPr>
        <p:spPr>
          <a:xfrm>
            <a:off x="4117024" y="5121700"/>
            <a:ext cx="628679" cy="2479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800">
                <a:solidFill>
                  <a:srgbClr val="FFFFFF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Sri Lanka</a:t>
            </a:r>
            <a:endParaRPr lang="en-US" sz="80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181419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ider (Cyan)">
    <p:bg>
      <p:bgPr>
        <a:solidFill>
          <a:srgbClr val="90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CCFC-0C7C-7E42-AAEE-3FB70C592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5400" y="1371600"/>
            <a:ext cx="9601200" cy="41148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for Divider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B958B-EF8E-214B-9B02-2EE3EF507FDD}"/>
              </a:ext>
            </a:extLst>
          </p:cNvPr>
          <p:cNvSpPr txBox="1"/>
          <p:nvPr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/>
                </a:solidFill>
                <a:latin typeface="Arial Black" charset="0"/>
                <a:cs typeface="Arial Black" charset="0"/>
              </a:rPr>
              <a:t>IMF</a:t>
            </a:r>
            <a:endParaRPr lang="en-US" sz="900" b="0">
              <a:solidFill>
                <a:schemeClr val="bg1"/>
              </a:solidFill>
              <a:latin typeface="+mn-lt"/>
              <a:cs typeface="Arial Black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509806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Agenda">
    <p:bg>
      <p:bgPr>
        <a:solidFill>
          <a:srgbClr val="90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6DC936A-9C43-D84B-9C24-0185515D689C}"/>
              </a:ext>
            </a:extLst>
          </p:cNvPr>
          <p:cNvSpPr/>
          <p:nvPr/>
        </p:nvSpPr>
        <p:spPr>
          <a:xfrm>
            <a:off x="-1" y="6638778"/>
            <a:ext cx="12192001" cy="219221"/>
          </a:xfrm>
          <a:prstGeom prst="rect">
            <a:avLst/>
          </a:prstGeom>
          <a:solidFill>
            <a:srgbClr val="9015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B958B-EF8E-214B-9B02-2EE3EF507FDD}"/>
              </a:ext>
            </a:extLst>
          </p:cNvPr>
          <p:cNvSpPr txBox="1"/>
          <p:nvPr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/>
                </a:solidFill>
                <a:latin typeface="Arial Black" charset="0"/>
                <a:cs typeface="Arial Black" charset="0"/>
              </a:rPr>
              <a:t>IMF </a:t>
            </a:r>
            <a:r>
              <a:rPr lang="en-US" sz="900" b="0">
                <a:solidFill>
                  <a:schemeClr val="bg1"/>
                </a:solidFill>
                <a:latin typeface="+mn-lt"/>
                <a:cs typeface="Arial Black" charset="0"/>
              </a:rPr>
              <a:t>| South Asia Regional Training and Technical Assistance Center— SARTTAC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CE3741-921D-834E-8354-54991BEB2B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35964" y="683639"/>
            <a:ext cx="9372600" cy="5486400"/>
          </a:xfrm>
        </p:spPr>
        <p:txBody>
          <a:bodyPr tIns="0" bIns="365760" anchor="ctr" anchorCtr="0"/>
          <a:lstStyle>
            <a:lvl1pPr>
              <a:spcBef>
                <a:spcPts val="0"/>
              </a:spcBef>
              <a:spcAft>
                <a:spcPts val="2400"/>
              </a:spcAft>
              <a:buClrTx/>
              <a:defRPr sz="3400" b="0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342900" indent="-342900">
              <a:spcBef>
                <a:spcPts val="900"/>
              </a:spcBef>
              <a:spcAft>
                <a:spcPts val="0"/>
              </a:spcAft>
              <a:buClrTx/>
              <a:tabLst/>
              <a:defRPr sz="3200" b="0">
                <a:solidFill>
                  <a:schemeClr val="bg1"/>
                </a:solidFill>
              </a:defRPr>
            </a:lvl2pPr>
            <a:lvl3pPr marL="342900" indent="-342900">
              <a:spcBef>
                <a:spcPts val="9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3pPr>
            <a:lvl4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0">
                <a:solidFill>
                  <a:schemeClr val="bg1"/>
                </a:solidFill>
              </a:defRPr>
            </a:lvl4pPr>
            <a:lvl5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/>
              <a:t>Title for Divider–Agenda</a:t>
            </a:r>
          </a:p>
          <a:p>
            <a:pPr lvl="1"/>
            <a:r>
              <a:rPr lang="en-US"/>
              <a:t>Agenda Item—Inactive</a:t>
            </a:r>
          </a:p>
          <a:p>
            <a:pPr lvl="2"/>
            <a:r>
              <a:rPr lang="en-US"/>
              <a:t>Agenda Item—Active</a:t>
            </a:r>
          </a:p>
          <a:p>
            <a:pPr lvl="3"/>
            <a:r>
              <a:rPr lang="en-US"/>
              <a:t>Second level</a:t>
            </a:r>
          </a:p>
          <a:p>
            <a:pPr lvl="4"/>
            <a:r>
              <a:rPr lang="en-US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A9CB8-B07F-44FD-836E-BCE0675149B4}"/>
              </a:ext>
            </a:extLst>
          </p:cNvPr>
          <p:cNvSpPr/>
          <p:nvPr userDrawn="1"/>
        </p:nvSpPr>
        <p:spPr>
          <a:xfrm>
            <a:off x="-1" y="6638778"/>
            <a:ext cx="12192001" cy="2192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84127-8999-4E06-9847-DAECC8470BF5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398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2160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orient="horz" pos="3998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Single-Column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40185200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pos="781" userDrawn="1">
          <p15:clr>
            <a:srgbClr val="FBAE40"/>
          </p15:clr>
        </p15:guide>
        <p15:guide id="8" pos="6901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Two-Column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BF7038D-D496-7248-87EC-9540380F1D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32207676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+Text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Photo+Text</a:t>
            </a:r>
            <a:r>
              <a:rPr lang="en-US"/>
              <a:t> (W)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 marL="917575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marL="917575" marR="0" lvl="4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/>
            </a:pPr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39838" y="1669499"/>
            <a:ext cx="4856162" cy="44805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9839" y="5889219"/>
            <a:ext cx="4856162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7997778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40806" y="491385"/>
            <a:ext cx="3670259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4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Text+Photo</a:t>
            </a:r>
            <a:r>
              <a:rPr lang="en-US"/>
              <a:t>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806" y="1469871"/>
            <a:ext cx="3670259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7569D7D-6010-454B-A86B-B6C69D7E2E6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191000" y="-1"/>
            <a:ext cx="8001000" cy="6629400"/>
          </a:xfrm>
          <a:solidFill>
            <a:schemeClr val="bg1">
              <a:lumMod val="90000"/>
            </a:schemeClr>
          </a:solidFill>
        </p:spPr>
        <p:txBody>
          <a:bodyPr tIns="0" bIns="27432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D26CCD3-E500-1F49-8DD8-1545E2CBF0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5400000">
            <a:off x="8746884" y="3184281"/>
            <a:ext cx="6629396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42758679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+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Photo+Photo</a:t>
            </a:r>
            <a:r>
              <a:rPr lang="en-US"/>
              <a:t> (W) Layout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69871"/>
            <a:ext cx="6096000" cy="42519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57E259A3-746A-2044-822B-3F7D859E7F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439" y="1469871"/>
            <a:ext cx="6096000" cy="42519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3F54B41-918E-644B-B610-DDE8277FB2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3440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7484380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+Title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27426-24A7-3845-8E05-8360D202A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5349453"/>
            <a:ext cx="12192000" cy="1508547"/>
          </a:xfrm>
          <a:prstGeom prst="rect">
            <a:avLst/>
          </a:prstGeom>
        </p:spPr>
        <p:txBody>
          <a:bodyPr vert="horz" lIns="457200" tIns="182880" rIns="457200" bIns="182880" rtlCol="0" anchor="t" anchorCtr="0">
            <a:noAutofit/>
          </a:bodyPr>
          <a:lstStyle>
            <a:lvl1pPr algn="ctr">
              <a:defRPr lang="en-US" sz="24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Large Photo (W) Layout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349875"/>
          </a:xfrm>
          <a:solidFill>
            <a:schemeClr val="bg1">
              <a:lumMod val="90000"/>
            </a:schemeClr>
          </a:solidFill>
        </p:spPr>
        <p:txBody>
          <a:bodyPr tIns="0" bIns="20574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386856" y="2544308"/>
            <a:ext cx="5349451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0745999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tra-Large Photo+Title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172200"/>
          </a:xfrm>
          <a:solidFill>
            <a:schemeClr val="bg1">
              <a:lumMod val="90000"/>
            </a:schemeClr>
          </a:solidFill>
        </p:spPr>
        <p:txBody>
          <a:bodyPr tIns="0" bIns="256032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8975483" y="2955682"/>
            <a:ext cx="6172198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27426-24A7-3845-8E05-8360D202A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6172200"/>
            <a:ext cx="12202245" cy="685800"/>
          </a:xfrm>
          <a:prstGeom prst="rect">
            <a:avLst/>
          </a:prstGeom>
        </p:spPr>
        <p:txBody>
          <a:bodyPr vert="horz" lIns="457200" tIns="91440" rIns="457200" bIns="182880" rtlCol="0" anchor="t" anchorCtr="0">
            <a:normAutofit/>
          </a:bodyPr>
          <a:lstStyle>
            <a:lvl1pPr algn="ctr">
              <a:defRPr lang="en-US" sz="22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Extra-Large </a:t>
            </a:r>
            <a:r>
              <a:rPr lang="en-US" err="1"/>
              <a:t>Photo+Title</a:t>
            </a:r>
            <a:r>
              <a:rPr lang="en-US"/>
              <a:t> (W) Layout</a:t>
            </a:r>
          </a:p>
        </p:txBody>
      </p:sp>
    </p:spTree>
    <p:extLst>
      <p:ext uri="{BB962C8B-B14F-4D97-AF65-F5344CB8AC3E}">
        <p14:creationId xmlns:p14="http://schemas.microsoft.com/office/powerpoint/2010/main" val="21213206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tra-Large 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583680"/>
          </a:xfrm>
          <a:solidFill>
            <a:schemeClr val="bg1">
              <a:lumMod val="90000"/>
            </a:schemeClr>
          </a:solidFill>
        </p:spPr>
        <p:txBody>
          <a:bodyPr tIns="0" bIns="27432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8769743" y="3161422"/>
            <a:ext cx="6583678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17366231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119"/>
          <a:stretch/>
        </p:blipFill>
        <p:spPr>
          <a:xfrm>
            <a:off x="5623560" y="749808"/>
            <a:ext cx="1095647" cy="114315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46B1B04-9B4F-40A9-ADCB-3504786A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78907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C45A-1DFA-4A98-9CFC-E737FF48E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C9212-6CF3-428D-833E-9884E5B94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7FD1-F24E-4011-8D2B-0EF8A8DB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E3075-8294-44BB-A707-64D12E6B055B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4AA69-D0CE-4E95-AE2B-060B9B8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57728-51FC-473C-8CA3-352C1FE1A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DADC-2B7E-4835-8C4D-8E8B74895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80897"/>
      </p:ext>
    </p:extLst>
  </p:cSld>
  <p:clrMapOvr>
    <a:masterClrMapping/>
  </p:clrMapOvr>
  <p:hf sldNum="0" hdr="0" ft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125"/>
          <a:stretch/>
        </p:blipFill>
        <p:spPr>
          <a:xfrm>
            <a:off x="5623560" y="749808"/>
            <a:ext cx="1103811" cy="114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662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436" y="71412"/>
            <a:ext cx="9025128" cy="85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156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90742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13" y="136523"/>
            <a:ext cx="10666675" cy="706094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896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396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004C9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961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059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723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04C9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642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04C9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08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55442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952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249D-73BB-4688-B427-EB89B5DAF030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1149" y="6499964"/>
            <a:ext cx="608731" cy="365125"/>
          </a:xfrm>
          <a:prstGeom prst="rect">
            <a:avLst/>
          </a:prstGeom>
        </p:spPr>
        <p:txBody>
          <a:bodyPr/>
          <a:lstStyle/>
          <a:p>
            <a:fld id="{10D478F3-51D7-414D-882C-32EADC5AA2A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468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119"/>
          <a:stretch/>
        </p:blipFill>
        <p:spPr>
          <a:xfrm>
            <a:off x="5623560" y="749808"/>
            <a:ext cx="1095647" cy="114315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46B1B04-9B4F-40A9-ADCB-3504786A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67162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Agenda">
    <p:bg>
      <p:bgPr>
        <a:solidFill>
          <a:srgbClr val="90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CE3741-921D-834E-8354-54991BEB2B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35964" y="683639"/>
            <a:ext cx="9372600" cy="5486400"/>
          </a:xfrm>
        </p:spPr>
        <p:txBody>
          <a:bodyPr tIns="0" bIns="365760" anchor="ctr" anchorCtr="0"/>
          <a:lstStyle>
            <a:lvl1pPr>
              <a:spcBef>
                <a:spcPts val="0"/>
              </a:spcBef>
              <a:spcAft>
                <a:spcPts val="2400"/>
              </a:spcAft>
              <a:buClrTx/>
              <a:defRPr sz="3400" b="0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342900" indent="-342900">
              <a:spcBef>
                <a:spcPts val="900"/>
              </a:spcBef>
              <a:spcAft>
                <a:spcPts val="0"/>
              </a:spcAft>
              <a:buClrTx/>
              <a:tabLst/>
              <a:defRPr sz="3200" b="0">
                <a:solidFill>
                  <a:schemeClr val="bg1"/>
                </a:solidFill>
              </a:defRPr>
            </a:lvl2pPr>
            <a:lvl3pPr marL="342900" indent="-342900">
              <a:spcBef>
                <a:spcPts val="9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3pPr>
            <a:lvl4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0">
                <a:solidFill>
                  <a:schemeClr val="bg1"/>
                </a:solidFill>
              </a:defRPr>
            </a:lvl4pPr>
            <a:lvl5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/>
              <a:t>Title for Divider–Agenda</a:t>
            </a:r>
          </a:p>
          <a:p>
            <a:pPr lvl="1"/>
            <a:r>
              <a:rPr lang="en-US"/>
              <a:t>Agenda Item—Inactive</a:t>
            </a:r>
          </a:p>
          <a:p>
            <a:pPr lvl="2"/>
            <a:r>
              <a:rPr lang="en-US"/>
              <a:t>Agenda Item—Active</a:t>
            </a:r>
          </a:p>
          <a:p>
            <a:pPr lvl="3"/>
            <a:r>
              <a:rPr lang="en-US"/>
              <a:t>Second level</a:t>
            </a:r>
          </a:p>
          <a:p>
            <a:pPr lvl="4"/>
            <a:r>
              <a:rPr lang="en-US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A9CB8-B07F-44FD-836E-BCE0675149B4}"/>
              </a:ext>
            </a:extLst>
          </p:cNvPr>
          <p:cNvSpPr/>
          <p:nvPr userDrawn="1"/>
        </p:nvSpPr>
        <p:spPr>
          <a:xfrm>
            <a:off x="-1" y="6638778"/>
            <a:ext cx="12192001" cy="2192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84127-8999-4E06-9847-DAECC8470BF5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4089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ngle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8250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Single-Column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23879196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C45A-1DFA-4A98-9CFC-E737FF48E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C9212-6CF3-428D-833E-9884E5B94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7FD1-F24E-4011-8D2B-0EF8A8DB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E3075-8294-44BB-A707-64D12E6B055B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4AA69-D0CE-4E95-AE2B-060B9B8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57728-51FC-473C-8CA3-352C1FE1A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DADC-2B7E-4835-8C4D-8E8B74895EC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32700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791806"/>
          </a:xfrm>
          <a:prstGeom prst="rect">
            <a:avLst/>
          </a:prstGeom>
        </p:spPr>
        <p:txBody>
          <a:bodyPr vert="horz" lIns="0" tIns="137160" rIns="0" bIns="0" rtlCol="0">
            <a:normAutofit/>
          </a:bodyPr>
          <a:lstStyle/>
          <a:p>
            <a:pPr lvl="0"/>
            <a:r>
              <a:rPr lang="en-US"/>
              <a:t>Paragraph type</a:t>
            </a:r>
          </a:p>
          <a:p>
            <a:pPr lvl="1"/>
            <a:r>
              <a:rPr lang="en-US"/>
              <a:t>Click the “Indent More” button (above) for first-level bullets</a:t>
            </a:r>
          </a:p>
          <a:p>
            <a:pPr lvl="2"/>
            <a:r>
              <a:rPr lang="en-US"/>
              <a:t>Click the “Indent More” button (above) twice for second-level bullets</a:t>
            </a:r>
          </a:p>
          <a:p>
            <a:pPr lvl="3"/>
            <a:r>
              <a:rPr lang="en-US"/>
              <a:t>Click the “Indent More” button (above) three times for third-level bullets</a:t>
            </a:r>
          </a:p>
          <a:p>
            <a:pPr lvl="4"/>
            <a:r>
              <a:rPr lang="en-US"/>
              <a:t>Click the “Indent More” button (above) four times for fourth-level bullets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82138"/>
            <a:ext cx="10972800" cy="1118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Master Slide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5D478-FD4A-2240-B032-46F4E3BAB6E8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accent1"/>
                </a:solidFill>
              </a:rPr>
              <a:pPr algn="r"/>
              <a:t>‹N°›</a:t>
            </a:fld>
            <a:endParaRPr lang="en-US" sz="1000">
              <a:solidFill>
                <a:schemeClr val="accen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661" r:id="rId3"/>
    <p:sldLayoutId id="2147483760" r:id="rId4"/>
    <p:sldLayoutId id="2147483754" r:id="rId5"/>
    <p:sldLayoutId id="2147483755" r:id="rId6"/>
    <p:sldLayoutId id="2147483756" r:id="rId7"/>
    <p:sldLayoutId id="2147483758" r:id="rId8"/>
    <p:sldLayoutId id="2147483757" r:id="rId9"/>
    <p:sldLayoutId id="2147483707" r:id="rId10"/>
    <p:sldLayoutId id="2147483759" r:id="rId11"/>
    <p:sldLayoutId id="2147483748" r:id="rId12"/>
    <p:sldLayoutId id="2147483744" r:id="rId13"/>
    <p:sldLayoutId id="2147483750" r:id="rId14"/>
    <p:sldLayoutId id="2147483747" r:id="rId15"/>
    <p:sldLayoutId id="2147483752" r:id="rId16"/>
    <p:sldLayoutId id="2147483751" r:id="rId17"/>
    <p:sldLayoutId id="2147483745" r:id="rId18"/>
    <p:sldLayoutId id="2147483746" r:id="rId19"/>
    <p:sldLayoutId id="2147483749" r:id="rId20"/>
    <p:sldLayoutId id="2147483753" r:id="rId21"/>
    <p:sldLayoutId id="2147483743" r:id="rId22"/>
    <p:sldLayoutId id="2147483799" r:id="rId23"/>
    <p:sldLayoutId id="2147483792" r:id="rId24"/>
  </p:sldLayoutIdLst>
  <p:transition>
    <p:fade/>
  </p:transition>
  <p:hf hdr="0" ftr="0" dt="0"/>
  <p:txStyles>
    <p:titleStyle>
      <a:lvl1pPr algn="l" defTabSz="914314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0" indent="0" algn="l" defTabSz="914314" rtl="0" eaLnBrk="1" latinLnBrk="0" hangingPunct="1">
        <a:spcBef>
          <a:spcPts val="2400"/>
        </a:spcBef>
        <a:buClr>
          <a:schemeClr val="accent1"/>
        </a:buClr>
        <a:buSzPct val="110000"/>
        <a:buFont typeface="Wingdings" charset="2"/>
        <a:buNone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33363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8788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SzPct val="65000"/>
        <a:buFont typeface="Lucida Grande" panose="020B0600040502020204" pitchFamily="34" charset="0"/>
        <a:buChar char="▶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LucidaGrande" charset="0"/>
        <a:buChar char="◆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917575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Font typeface=".HelveticaNeueDeskInterface-Regular"/>
        <a:buChar char="●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64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22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79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35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4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8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85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4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0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791806"/>
          </a:xfrm>
          <a:prstGeom prst="rect">
            <a:avLst/>
          </a:prstGeom>
        </p:spPr>
        <p:txBody>
          <a:bodyPr vert="horz" lIns="0" tIns="137160" rIns="0" bIns="0" rtlCol="0">
            <a:normAutofit/>
          </a:bodyPr>
          <a:lstStyle/>
          <a:p>
            <a:pPr lvl="0"/>
            <a:r>
              <a:rPr lang="en-US"/>
              <a:t>Paragraph type</a:t>
            </a:r>
          </a:p>
          <a:p>
            <a:pPr lvl="1"/>
            <a:r>
              <a:rPr lang="en-US"/>
              <a:t>Click the “Indent More” button (above) for first-level bullets</a:t>
            </a:r>
          </a:p>
          <a:p>
            <a:pPr lvl="2"/>
            <a:r>
              <a:rPr lang="en-US"/>
              <a:t>Click the “Indent More” button (above) twice for second-level bullets</a:t>
            </a:r>
          </a:p>
          <a:p>
            <a:pPr lvl="3"/>
            <a:r>
              <a:rPr lang="en-US"/>
              <a:t>Click the “Indent More” button (above) three times for third-level bullets</a:t>
            </a:r>
          </a:p>
          <a:p>
            <a:pPr lvl="4"/>
            <a:r>
              <a:rPr lang="en-US"/>
              <a:t>Click the “Indent More” button (above) four times for fourth-level bullets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82138"/>
            <a:ext cx="10972800" cy="1118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Master Slide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9C718-696D-8C48-95E3-35ACB84AD8D9}"/>
              </a:ext>
            </a:extLst>
          </p:cNvPr>
          <p:cNvSpPr txBox="1"/>
          <p:nvPr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>
                    <a:lumMod val="75000"/>
                  </a:schemeClr>
                </a:solidFill>
                <a:latin typeface="Arial Black" charset="0"/>
                <a:cs typeface="Arial Black" charset="0"/>
              </a:rPr>
              <a:t>IMF</a:t>
            </a:r>
            <a:endParaRPr lang="en-US" sz="900" b="0">
              <a:solidFill>
                <a:schemeClr val="bg1">
                  <a:lumMod val="75000"/>
                </a:schemeClr>
              </a:solidFill>
              <a:latin typeface="+mn-lt"/>
              <a:cs typeface="Arial Black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5D478-FD4A-2240-B032-46F4E3BAB6E8}"/>
              </a:ext>
            </a:extLst>
          </p:cNvPr>
          <p:cNvSpPr txBox="1"/>
          <p:nvPr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accent1"/>
                </a:solidFill>
              </a:rPr>
              <a:pPr algn="r"/>
              <a:t>‹N°›</a:t>
            </a:fld>
            <a:endParaRPr lang="en-US" sz="100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C54C7-734D-43A7-BEFB-A9BE6BF97DF4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accent1"/>
                </a:solidFill>
              </a:rPr>
              <a:pPr algn="r"/>
              <a:t>‹N°›</a:t>
            </a:fld>
            <a:endParaRPr lang="en-US" sz="10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906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91" r:id="rId14"/>
  </p:sldLayoutIdLst>
  <p:transition>
    <p:fade/>
  </p:transition>
  <p:hf hdr="0" ftr="0" dt="0"/>
  <p:txStyles>
    <p:titleStyle>
      <a:lvl1pPr algn="l" defTabSz="914314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0" indent="0" algn="l" defTabSz="914314" rtl="0" eaLnBrk="1" latinLnBrk="0" hangingPunct="1">
        <a:spcBef>
          <a:spcPts val="2400"/>
        </a:spcBef>
        <a:buClr>
          <a:schemeClr val="accent1"/>
        </a:buClr>
        <a:buSzPct val="110000"/>
        <a:buFont typeface="Wingdings" charset="2"/>
        <a:buNone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33363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8788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SzPct val="65000"/>
        <a:buFont typeface="Lucida Grande" panose="020B0600040502020204" pitchFamily="34" charset="0"/>
        <a:buChar char="▶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LucidaGrande" charset="0"/>
        <a:buChar char="◆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917575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Font typeface=".HelveticaNeueDeskInterface-Regular"/>
        <a:buChar char="●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64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22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79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35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4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8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85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4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0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A2D1FFAD-683D-4DF5-8667-FE7C943F09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5" y="6549163"/>
            <a:ext cx="12316389" cy="30595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539B6A2-25B6-414C-8964-4BB73BDD4DA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5" y="1105"/>
            <a:ext cx="12274927" cy="99853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41488" y="133440"/>
            <a:ext cx="9049421" cy="733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8398" y="16765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8249D-73BB-4688-B427-EB89B5DAF030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E4E6BEC-FFD1-403D-AE66-D9C4578DCD25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59" y="72826"/>
            <a:ext cx="868467" cy="85210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4A752841-1F14-472B-8136-14C2A87C7CD3}"/>
              </a:ext>
            </a:extLst>
          </p:cNvPr>
          <p:cNvSpPr txBox="1"/>
          <p:nvPr/>
        </p:nvSpPr>
        <p:spPr>
          <a:xfrm>
            <a:off x="117984" y="6594418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IMF</a:t>
            </a:r>
            <a:endParaRPr lang="en-US" sz="900" b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EC36D0-8578-4449-B610-88EB05D95480}"/>
              </a:ext>
            </a:extLst>
          </p:cNvPr>
          <p:cNvSpPr txBox="1"/>
          <p:nvPr/>
        </p:nvSpPr>
        <p:spPr>
          <a:xfrm>
            <a:off x="10372855" y="6579030"/>
            <a:ext cx="1613877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‹N°›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61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221FD5-C0B3-DA62-3AA2-E8B9CA5E63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Placeholder 5" descr="A picture containing outdoor&#10;&#10;Description automatically generated">
            <a:extLst>
              <a:ext uri="{FF2B5EF4-FFF2-40B4-BE49-F238E27FC236}">
                <a16:creationId xmlns:a16="http://schemas.microsoft.com/office/drawing/2014/main" id="{E7BFF5A0-0143-473C-A439-5D8C54171DE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2" r="26242"/>
          <a:stretch>
            <a:fillRect/>
          </a:stretch>
        </p:blipFill>
        <p:spPr/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4958751-400C-0F44-BB35-6CE0FEAC0E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IMF Flickr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54EC1-60D1-CD48-8690-FF0B6D8AC54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429250" y="1914525"/>
            <a:ext cx="6762750" cy="2928938"/>
          </a:xfrm>
          <a:noFill/>
        </p:spPr>
        <p:txBody>
          <a:bodyPr>
            <a:normAutofit/>
          </a:bodyPr>
          <a:lstStyle/>
          <a:p>
            <a:r>
              <a:rPr lang="en-US" sz="4400" dirty="0">
                <a:latin typeface="Arial Black"/>
              </a:rPr>
              <a:t>Fuel Subsidy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28971448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9AEDB7-8C42-1049-8D4C-110CB258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980" y="296133"/>
            <a:ext cx="9715500" cy="978486"/>
          </a:xfrm>
        </p:spPr>
        <p:txBody>
          <a:bodyPr>
            <a:normAutofit/>
          </a:bodyPr>
          <a:lstStyle/>
          <a:p>
            <a:pPr algn="ctr"/>
            <a:r>
              <a:rPr lang="en-US" sz="3600"/>
              <a:t>Lecture outline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93C5F-C448-6542-89BC-ECE1A4FE3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39838" y="1274619"/>
            <a:ext cx="9966642" cy="5251310"/>
          </a:xfrm>
        </p:spPr>
        <p:txBody>
          <a:bodyPr>
            <a:normAutofit/>
          </a:bodyPr>
          <a:lstStyle/>
          <a:p>
            <a:pPr marL="457200" lvl="1" indent="-457200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3200" b="1" dirty="0"/>
              <a:t>Fuel Subsidy Toolkit</a:t>
            </a:r>
          </a:p>
          <a:p>
            <a:pPr marL="457200" lvl="1" indent="-457200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9941452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9056-5FBC-93A7-3990-ABF8B9BB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Fuel Subsidy Tool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C06268-0449-1156-4F17-31A33C7710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/>
              <a:t>A model developed by Stefania Fabrizio and Roland </a:t>
            </a:r>
            <a:r>
              <a:rPr lang="en-US" sz="1800" err="1"/>
              <a:t>Kpodar</a:t>
            </a:r>
            <a:r>
              <a:rPr lang="en-US" sz="1800"/>
              <a:t> extended to include gender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/>
              <a:t>Analyses how fuel price changes within a country affect consumers depending on:</a:t>
            </a:r>
          </a:p>
          <a:p>
            <a:pPr marL="576263" lvl="1" indent="-342900">
              <a:buFont typeface="Arial" panose="020B0604020202020204" pitchFamily="34" charset="0"/>
              <a:buChar char="•"/>
            </a:pPr>
            <a:r>
              <a:rPr lang="en-US" sz="1800"/>
              <a:t>Income </a:t>
            </a:r>
          </a:p>
          <a:p>
            <a:pPr marL="576263" lvl="1" indent="-342900">
              <a:buFont typeface="Arial" panose="020B0604020202020204" pitchFamily="34" charset="0"/>
              <a:buChar char="•"/>
            </a:pPr>
            <a:r>
              <a:rPr lang="en-US" sz="1800"/>
              <a:t>Location (rural/urban)</a:t>
            </a:r>
          </a:p>
          <a:p>
            <a:pPr marL="576263" lvl="1" indent="-342900">
              <a:buFont typeface="Arial" panose="020B0604020202020204" pitchFamily="34" charset="0"/>
              <a:buChar char="•"/>
            </a:pPr>
            <a:r>
              <a:rPr lang="en-US" sz="1800"/>
              <a:t>Gender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a typeface="Century Gothic" panose="020B0502020202020204" pitchFamily="34" charset="0"/>
              </a:rPr>
              <a:t>The tool provides two levels of analysis:</a:t>
            </a:r>
          </a:p>
          <a:p>
            <a:pPr marL="1035050" lvl="3" indent="-342900">
              <a:buFont typeface="+mj-lt"/>
              <a:buAutoNum type="arabicPeriod"/>
            </a:pPr>
            <a:r>
              <a:rPr lang="en-US" sz="1800" b="1">
                <a:solidFill>
                  <a:srgbClr val="000000"/>
                </a:solidFill>
                <a:effectLst/>
                <a:ea typeface="Century Gothic" panose="020B0502020202020204" pitchFamily="34" charset="0"/>
              </a:rPr>
              <a:t>Direct Impact: </a:t>
            </a:r>
            <a:r>
              <a:rPr lang="en-US" sz="1800">
                <a:solidFill>
                  <a:srgbClr val="000000"/>
                </a:solidFill>
                <a:effectLst/>
                <a:ea typeface="Century Gothic" panose="020B0502020202020204" pitchFamily="34" charset="0"/>
              </a:rPr>
              <a:t>how does a change in the fuel price </a:t>
            </a:r>
            <a:r>
              <a:rPr lang="en-US" sz="1800" b="1">
                <a:solidFill>
                  <a:srgbClr val="000000"/>
                </a:solidFill>
                <a:effectLst/>
                <a:ea typeface="Century Gothic" panose="020B0502020202020204" pitchFamily="34" charset="0"/>
              </a:rPr>
              <a:t>directly</a:t>
            </a:r>
            <a:r>
              <a:rPr lang="en-US" sz="1800">
                <a:solidFill>
                  <a:srgbClr val="000000"/>
                </a:solidFill>
                <a:effectLst/>
                <a:ea typeface="Century Gothic" panose="020B0502020202020204" pitchFamily="34" charset="0"/>
              </a:rPr>
              <a:t> affect consumers?</a:t>
            </a:r>
          </a:p>
          <a:p>
            <a:pPr marL="1203325" lvl="4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ffectLst/>
                <a:ea typeface="Century Gothic" panose="020B0502020202020204" pitchFamily="34" charset="0"/>
              </a:rPr>
              <a:t>Expenditure on fuel varies by consumer so price changes wil</a:t>
            </a:r>
            <a:r>
              <a:rPr lang="en-US" sz="1800">
                <a:solidFill>
                  <a:srgbClr val="000000"/>
                </a:solidFill>
                <a:ea typeface="Century Gothic" panose="020B0502020202020204" pitchFamily="34" charset="0"/>
              </a:rPr>
              <a:t>l affect consumers from different </a:t>
            </a:r>
            <a:r>
              <a:rPr lang="en-US" sz="1800">
                <a:solidFill>
                  <a:srgbClr val="000000"/>
                </a:solidFill>
                <a:effectLst/>
                <a:ea typeface="Century Gothic" panose="020B0502020202020204" pitchFamily="34" charset="0"/>
              </a:rPr>
              <a:t>income groups, location, and genders differently</a:t>
            </a:r>
          </a:p>
          <a:p>
            <a:pPr marL="1203325" lvl="4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ffectLst/>
                <a:ea typeface="Century Gothic" panose="020B0502020202020204" pitchFamily="34" charset="0"/>
              </a:rPr>
              <a:t>A household expenditure/consumption survey is essential for this analysis.</a:t>
            </a:r>
            <a:endParaRPr lang="en-US" sz="1800" b="1">
              <a:solidFill>
                <a:srgbClr val="000000"/>
              </a:solidFill>
              <a:effectLst/>
              <a:ea typeface="Century Gothic" panose="020B0502020202020204" pitchFamily="34" charset="0"/>
            </a:endParaRPr>
          </a:p>
          <a:p>
            <a:pPr marL="1035050" lvl="3" indent="-342900">
              <a:buFont typeface="+mj-lt"/>
              <a:buAutoNum type="arabicPeriod"/>
            </a:pPr>
            <a:r>
              <a:rPr lang="en-US" sz="1800" b="1">
                <a:solidFill>
                  <a:srgbClr val="000000"/>
                </a:solidFill>
                <a:effectLst/>
                <a:ea typeface="Century Gothic" panose="020B0502020202020204" pitchFamily="34" charset="0"/>
              </a:rPr>
              <a:t>Indirect Impact: </a:t>
            </a:r>
            <a:r>
              <a:rPr lang="en-US" sz="1800">
                <a:solidFill>
                  <a:srgbClr val="000000"/>
                </a:solidFill>
                <a:effectLst/>
                <a:ea typeface="Century Gothic" panose="020B0502020202020204" pitchFamily="34" charset="0"/>
              </a:rPr>
              <a:t>how does a change in the fuel price </a:t>
            </a:r>
            <a:r>
              <a:rPr lang="en-US" sz="1800" b="1">
                <a:solidFill>
                  <a:srgbClr val="000000"/>
                </a:solidFill>
                <a:effectLst/>
                <a:ea typeface="Century Gothic" panose="020B0502020202020204" pitchFamily="34" charset="0"/>
              </a:rPr>
              <a:t>indirectly</a:t>
            </a:r>
            <a:r>
              <a:rPr lang="en-US" sz="1800">
                <a:solidFill>
                  <a:srgbClr val="000000"/>
                </a:solidFill>
                <a:effectLst/>
                <a:ea typeface="Century Gothic" panose="020B0502020202020204" pitchFamily="34" charset="0"/>
              </a:rPr>
              <a:t> affect consumers?</a:t>
            </a:r>
          </a:p>
          <a:p>
            <a:pPr marL="1203325" lvl="4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entury Gothic" panose="020B0502020202020204" pitchFamily="34" charset="0"/>
              </a:rPr>
              <a:t>Fuel products serve as intermediate inputs – changes in fuel prices impacts the price of other goods. H</a:t>
            </a: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ea typeface="Century Gothic" panose="020B0502020202020204" pitchFamily="34" charset="0"/>
              </a:rPr>
              <a:t>ouseholds will be affected differently </a:t>
            </a: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entury Gothic" panose="020B0502020202020204" pitchFamily="34" charset="0"/>
              </a:rPr>
              <a:t>based on their expenditure patterns</a:t>
            </a:r>
          </a:p>
          <a:p>
            <a:pPr marL="1203325" lvl="4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effectLst/>
                <a:ea typeface="Century Gothic" panose="020B0502020202020204" pitchFamily="34" charset="0"/>
              </a:rPr>
              <a:t>A household expenditure/consumption survey </a:t>
            </a:r>
            <a:r>
              <a:rPr lang="en-US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entury Gothic" panose="020B0502020202020204" pitchFamily="34" charset="0"/>
              </a:rPr>
              <a:t>and an input-output table</a:t>
            </a:r>
            <a:r>
              <a:rPr lang="en-US" sz="1800">
                <a:solidFill>
                  <a:srgbClr val="000000"/>
                </a:solidFill>
                <a:effectLst/>
                <a:ea typeface="Century Gothic" panose="020B0502020202020204" pitchFamily="34" charset="0"/>
              </a:rPr>
              <a:t> is required.</a:t>
            </a:r>
            <a:endParaRPr lang="en-US" sz="1800" b="1">
              <a:solidFill>
                <a:srgbClr val="000000"/>
              </a:solidFill>
              <a:effectLst/>
              <a:ea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>
              <a:solidFill>
                <a:srgbClr val="000000"/>
              </a:solidFill>
              <a:effectLst/>
              <a:ea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2503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9056-5FBC-93A7-3990-ABF8B9BB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Fuel Subsidy 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B3237-B715-A9D3-9A7D-CF0DF2352C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Step 1a: select country name</a:t>
            </a:r>
          </a:p>
          <a:p>
            <a:r>
              <a:rPr lang="en-US"/>
              <a:t>Step 1b: fill in data path</a:t>
            </a:r>
          </a:p>
          <a:p>
            <a:r>
              <a:rPr lang="en-US"/>
              <a:t>Step 1c: click “import data”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CBA6A-E408-F103-B4D2-24D7EF025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427" y="3669833"/>
            <a:ext cx="8863146" cy="12719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E27257-4800-0F3F-1A45-5D73BE7E3EC1}"/>
              </a:ext>
            </a:extLst>
          </p:cNvPr>
          <p:cNvSpPr/>
          <p:nvPr/>
        </p:nvSpPr>
        <p:spPr>
          <a:xfrm>
            <a:off x="4902020" y="3904913"/>
            <a:ext cx="3532117" cy="907719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54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8C853-7F30-897E-A89D-D9800CA12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Fuel Subsidy 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A2A74-DDC0-B897-D4B0-65D9204EA7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39838" y="1469871"/>
            <a:ext cx="3344194" cy="2717118"/>
          </a:xfrm>
        </p:spPr>
        <p:txBody>
          <a:bodyPr/>
          <a:lstStyle/>
          <a:p>
            <a:r>
              <a:rPr lang="en-US"/>
              <a:t>Household survey data will be imported to the “Household Survey” tab: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E0A9A-132F-3DEC-3C34-42FE3DAF6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388" y="1469871"/>
            <a:ext cx="6568069" cy="48250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F207DA-1152-C444-2ADA-C1FC1CCB58F6}"/>
              </a:ext>
            </a:extLst>
          </p:cNvPr>
          <p:cNvSpPr/>
          <p:nvPr/>
        </p:nvSpPr>
        <p:spPr>
          <a:xfrm>
            <a:off x="9500078" y="5175584"/>
            <a:ext cx="914400" cy="757990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421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7B8D9-F063-4A79-ADE3-E226BC395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Fuel Subsidy Tool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CDEED9-98EF-6605-7638-66D1BA8C7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414" y="1954718"/>
            <a:ext cx="5943600" cy="22783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22A2D5D-42E4-2751-DE6D-F794E19D78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39838" y="1470025"/>
            <a:ext cx="9715500" cy="671009"/>
          </a:xfrm>
        </p:spPr>
        <p:txBody>
          <a:bodyPr/>
          <a:lstStyle/>
          <a:p>
            <a:r>
              <a:rPr lang="en-US"/>
              <a:t>Import Output Table:</a:t>
            </a:r>
          </a:p>
        </p:txBody>
      </p:sp>
    </p:spTree>
    <p:extLst>
      <p:ext uri="{BB962C8B-B14F-4D97-AF65-F5344CB8AC3E}">
        <p14:creationId xmlns:p14="http://schemas.microsoft.com/office/powerpoint/2010/main" val="369541613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7A62-BADA-66C1-DA4F-D859C660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Fuel Subsidy 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62157-AE8F-DC27-BB9B-F658EFAB82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148" y="1469871"/>
            <a:ext cx="2707106" cy="4860591"/>
          </a:xfrm>
        </p:spPr>
        <p:txBody>
          <a:bodyPr/>
          <a:lstStyle/>
          <a:p>
            <a:r>
              <a:rPr lang="en-US"/>
              <a:t>Step 2a: Determine fuel sector and price change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292F5-DAE1-9008-4F55-3FB4CC320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257" y="1325843"/>
            <a:ext cx="8135288" cy="48605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AEB784-EB38-9DF1-4812-4588AF91F9C1}"/>
              </a:ext>
            </a:extLst>
          </p:cNvPr>
          <p:cNvSpPr/>
          <p:nvPr/>
        </p:nvSpPr>
        <p:spPr>
          <a:xfrm>
            <a:off x="5933641" y="1155030"/>
            <a:ext cx="4750402" cy="1768643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5108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7A62-BADA-66C1-DA4F-D859C660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Fuel Subsidy 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62157-AE8F-DC27-BB9B-F658EFAB82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148" y="1469871"/>
            <a:ext cx="2707106" cy="4860591"/>
          </a:xfrm>
        </p:spPr>
        <p:txBody>
          <a:bodyPr/>
          <a:lstStyle/>
          <a:p>
            <a:r>
              <a:rPr lang="en-US"/>
              <a:t>Step 2b: unit of observation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292F5-DAE1-9008-4F55-3FB4CC320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257" y="1325843"/>
            <a:ext cx="8135288" cy="48605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BC1D85A-A1C2-78B9-CAF2-3BD9BE1279C4}"/>
              </a:ext>
            </a:extLst>
          </p:cNvPr>
          <p:cNvSpPr/>
          <p:nvPr/>
        </p:nvSpPr>
        <p:spPr>
          <a:xfrm>
            <a:off x="6204284" y="3429000"/>
            <a:ext cx="3288632" cy="601580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00527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7A62-BADA-66C1-DA4F-D859C660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Fuel Subsidy 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62157-AE8F-DC27-BB9B-F658EFAB82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148" y="1469871"/>
            <a:ext cx="2707106" cy="4860591"/>
          </a:xfrm>
        </p:spPr>
        <p:txBody>
          <a:bodyPr/>
          <a:lstStyle/>
          <a:p>
            <a:r>
              <a:rPr lang="en-US"/>
              <a:t>Step 2c: identify variables that contain info in household characteristics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292F5-DAE1-9008-4F55-3FB4CC320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257" y="1325843"/>
            <a:ext cx="8135288" cy="48605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BC1D85A-A1C2-78B9-CAF2-3BD9BE1279C4}"/>
              </a:ext>
            </a:extLst>
          </p:cNvPr>
          <p:cNvSpPr/>
          <p:nvPr/>
        </p:nvSpPr>
        <p:spPr>
          <a:xfrm>
            <a:off x="6120063" y="4199020"/>
            <a:ext cx="3505200" cy="1864895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5068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7A62-BADA-66C1-DA4F-D859C660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Fuel Subsidy 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62157-AE8F-DC27-BB9B-F658EFAB82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If want to keep price of certain sectors constant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CDAC56-2BB4-0379-1046-0D7257B778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15" r="2007" b="7799"/>
          <a:stretch/>
        </p:blipFill>
        <p:spPr>
          <a:xfrm>
            <a:off x="2624390" y="2478505"/>
            <a:ext cx="7554326" cy="15092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5E3A4F-8BDD-C2BB-2885-B325C5F6BF43}"/>
              </a:ext>
            </a:extLst>
          </p:cNvPr>
          <p:cNvSpPr/>
          <p:nvPr/>
        </p:nvSpPr>
        <p:spPr>
          <a:xfrm>
            <a:off x="4868779" y="2285585"/>
            <a:ext cx="3505200" cy="1864895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2368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7A62-BADA-66C1-DA4F-D859C660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Fuel Subsidy 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62157-AE8F-DC27-BB9B-F658EFAB82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Step 3: Mapping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5FF97B-4AC6-51D2-9671-A0CA933DD7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78" r="3409"/>
          <a:stretch/>
        </p:blipFill>
        <p:spPr>
          <a:xfrm>
            <a:off x="5110831" y="914400"/>
            <a:ext cx="6559802" cy="54522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523960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7A62-BADA-66C1-DA4F-D859C660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Fuel Subsidy 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62157-AE8F-DC27-BB9B-F658EFAB82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Step 4: Run!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B5C4D-C066-3459-2BC8-96A8C796A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160" y="1469871"/>
            <a:ext cx="7314002" cy="46972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739201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7A62-BADA-66C1-DA4F-D859C660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Fuel Subsidy 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62157-AE8F-DC27-BB9B-F658EFAB82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38250" y="1192435"/>
            <a:ext cx="9715500" cy="424243"/>
          </a:xfrm>
        </p:spPr>
        <p:txBody>
          <a:bodyPr>
            <a:normAutofit lnSpcReduction="10000"/>
          </a:bodyPr>
          <a:lstStyle/>
          <a:p>
            <a:r>
              <a:rPr lang="en-US"/>
              <a:t>Results: Direct effect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9AAA4E-530C-B0DB-3A6F-E5A3E14B9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657112"/>
            <a:ext cx="9451536" cy="47095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321916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7A62-BADA-66C1-DA4F-D859C660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Fuel Subsidy 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62157-AE8F-DC27-BB9B-F658EFAB82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38250" y="1192435"/>
            <a:ext cx="9715500" cy="424243"/>
          </a:xfrm>
        </p:spPr>
        <p:txBody>
          <a:bodyPr>
            <a:normAutofit lnSpcReduction="10000"/>
          </a:bodyPr>
          <a:lstStyle/>
          <a:p>
            <a:r>
              <a:rPr lang="en-US"/>
              <a:t>Results: Indirect effect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07FC8-540C-1D8D-00DE-E292BC4C3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534" y="1217491"/>
            <a:ext cx="7146471" cy="51491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77205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7A62-BADA-66C1-DA4F-D859C660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Fuel Subsidy Tool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62157-AE8F-DC27-BB9B-F658EFAB82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38250" y="1192435"/>
            <a:ext cx="9715500" cy="424243"/>
          </a:xfrm>
        </p:spPr>
        <p:txBody>
          <a:bodyPr>
            <a:normAutofit lnSpcReduction="10000"/>
          </a:bodyPr>
          <a:lstStyle/>
          <a:p>
            <a:r>
              <a:rPr lang="en-US"/>
              <a:t>Results: Total effect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07FC8-540C-1D8D-00DE-E292BC4C3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913" y="1303249"/>
            <a:ext cx="7146471" cy="51491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761633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EAA681-8565-E05E-785A-C0391DF4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4A8B99-66D3-ADE4-BDD0-A2C81D718A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957163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EF3627-C8C1-7F02-A544-DB18F700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87CBF6-6C26-4687-7052-B512C762A9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378449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1E48-3167-C946-663E-353BB205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1543A-ECB1-85D6-1D29-BE74FC6FF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Identify if your country has available consumption expenditure survey (would love to hear from you on this!)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Identify if your country has input-output table available (would love to hear from you on this!)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Apply this tool if they are available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Play around with the toolkit with the already loaded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direct and indirect effects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graphs and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Policy implications?</a:t>
            </a:r>
          </a:p>
        </p:txBody>
      </p:sp>
    </p:spTree>
    <p:extLst>
      <p:ext uri="{BB962C8B-B14F-4D97-AF65-F5344CB8AC3E}">
        <p14:creationId xmlns:p14="http://schemas.microsoft.com/office/powerpoint/2010/main" val="64378088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RENTXMLFILE" val="\\data3\users1\abarajas\My Documents\ICD\Courses\Courses 2023\Gender Inequality and Macroeconomics\Other Presentations\Presentations for Translation\L1 - Gender Inequality_ Dimensions &amp; Trends.xml"/>
  <p:tag name="XMLFILE" val="\\data3\users1\abarajas\My Documents\ICD\Courses\Courses 2023\Gender Inequality and Macroeconomics\Other Presentations\Presentations for Translation\L1 - Gender Inequality_ Dimensions &amp; Trends.xml"/>
  <p:tag name="CUMFILE" val="\\data3\users1\abarajas\My Documents\ICD\Courses\Courses 2023\Gender Inequality and Macroeconomics\Other Presentations\Presentations for Translation\L1 - Gender Inequality_ Dimensions &amp; Trends.cul"/>
  <p:tag name="PPTXFILE" val="\\data3\users1\abarajas\My Documents\ICD\Courses\Courses 2023\Gender Inequality and Macroeconomics\Other Presentations\Presentations for Translation\L1 - Gender Inequality_ Dimensions &amp; Trends.pptx"/>
</p:tagLst>
</file>

<file path=ppt/theme/theme1.xml><?xml version="1.0" encoding="utf-8"?>
<a:theme xmlns:a="http://schemas.openxmlformats.org/drawingml/2006/main" name="Custom Design">
  <a:themeElements>
    <a:clrScheme name="IMF Colors V2">
      <a:dk1>
        <a:srgbClr val="000000"/>
      </a:dk1>
      <a:lt1>
        <a:srgbClr val="FEFEFE"/>
      </a:lt1>
      <a:dk2>
        <a:srgbClr val="004C97"/>
      </a:dk2>
      <a:lt2>
        <a:srgbClr val="CAEDFE"/>
      </a:lt2>
      <a:accent1>
        <a:srgbClr val="009CDE"/>
      </a:accent1>
      <a:accent2>
        <a:srgbClr val="F2A900"/>
      </a:accent2>
      <a:accent3>
        <a:srgbClr val="8030A7"/>
      </a:accent3>
      <a:accent4>
        <a:srgbClr val="DA281C"/>
      </a:accent4>
      <a:accent5>
        <a:srgbClr val="78BE20"/>
      </a:accent5>
      <a:accent6>
        <a:srgbClr val="00B0B9"/>
      </a:accent6>
      <a:hlink>
        <a:srgbClr val="0065B3"/>
      </a:hlink>
      <a:folHlink>
        <a:srgbClr val="FFBD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MF-LEG_PresentationTemplate-General" id="{13F5556C-5BC5-9542-AB57-73990FD9E90C}" vid="{2B303AC9-B9EA-B048-9D5C-6C975EA17091}"/>
    </a:ext>
  </a:extLst>
</a:theme>
</file>

<file path=ppt/theme/theme2.xml><?xml version="1.0" encoding="utf-8"?>
<a:theme xmlns:a="http://schemas.openxmlformats.org/drawingml/2006/main" name="1_Custom Design">
  <a:themeElements>
    <a:clrScheme name="Fund Standard Colors">
      <a:dk1>
        <a:sysClr val="windowText" lastClr="000000"/>
      </a:dk1>
      <a:lt1>
        <a:sysClr val="window" lastClr="FFFFFF"/>
      </a:lt1>
      <a:dk2>
        <a:srgbClr val="004C97"/>
      </a:dk2>
      <a:lt2>
        <a:srgbClr val="CAEDFE"/>
      </a:lt2>
      <a:accent1>
        <a:srgbClr val="009CDE"/>
      </a:accent1>
      <a:accent2>
        <a:srgbClr val="F2A900"/>
      </a:accent2>
      <a:accent3>
        <a:srgbClr val="8031A7"/>
      </a:accent3>
      <a:accent4>
        <a:srgbClr val="DA291C"/>
      </a:accent4>
      <a:accent5>
        <a:srgbClr val="78BE20"/>
      </a:accent5>
      <a:accent6>
        <a:srgbClr val="FF8200"/>
      </a:accent6>
      <a:hlink>
        <a:srgbClr val="009CDE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RTTAC-PPT-Template-Wide-15-Dec-2021.potx" id="{F628AFBA-17EB-49E5-BC69-C6AE953424D6}" vid="{F72D32AC-F563-4E54-A5C2-D8F0BC37EE7E}"/>
    </a:ext>
  </a:extLst>
</a:theme>
</file>

<file path=ppt/theme/theme3.xml><?xml version="1.0" encoding="utf-8"?>
<a:theme xmlns:a="http://schemas.openxmlformats.org/drawingml/2006/main" name="Office Theme">
  <a:themeElements>
    <a:clrScheme name="Fund Standard Colors">
      <a:dk1>
        <a:sysClr val="windowText" lastClr="000000"/>
      </a:dk1>
      <a:lt1>
        <a:sysClr val="window" lastClr="FFFFFF"/>
      </a:lt1>
      <a:dk2>
        <a:srgbClr val="004C97"/>
      </a:dk2>
      <a:lt2>
        <a:srgbClr val="CAEDFE"/>
      </a:lt2>
      <a:accent1>
        <a:srgbClr val="009CDE"/>
      </a:accent1>
      <a:accent2>
        <a:srgbClr val="F2A900"/>
      </a:accent2>
      <a:accent3>
        <a:srgbClr val="8031A7"/>
      </a:accent3>
      <a:accent4>
        <a:srgbClr val="DA291C"/>
      </a:accent4>
      <a:accent5>
        <a:srgbClr val="78BE20"/>
      </a:accent5>
      <a:accent6>
        <a:srgbClr val="FF8200"/>
      </a:accent6>
      <a:hlink>
        <a:srgbClr val="009CDE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RTTAC-PPT-Template-Wide-15-Dec-2021.potx" id="{F628AFBA-17EB-49E5-BC69-C6AE953424D6}" vid="{6BC5DA02-7E34-41B8-ADA6-35A3853989A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08F46CC7369E44A38836926FD52CA4" ma:contentTypeVersion="15" ma:contentTypeDescription="Create a new document." ma:contentTypeScope="" ma:versionID="3a0b1859fdd68513e5f4b1f44bd79c8a">
  <xsd:schema xmlns:xsd="http://www.w3.org/2001/XMLSchema" xmlns:xs="http://www.w3.org/2001/XMLSchema" xmlns:p="http://schemas.microsoft.com/office/2006/metadata/properties" xmlns:ns2="3b9dc015-dd13-448b-b628-7af3b634cca4" xmlns:ns3="0c6f1c3b-ea25-4e6f-91c5-aeb92d62b0fb" targetNamespace="http://schemas.microsoft.com/office/2006/metadata/properties" ma:root="true" ma:fieldsID="256d367b57d5a8832e560a36f0f1973e" ns2:_="" ns3:_="">
    <xsd:import namespace="3b9dc015-dd13-448b-b628-7af3b634cca4"/>
    <xsd:import namespace="0c6f1c3b-ea25-4e6f-91c5-aeb92d62b0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9dc015-dd13-448b-b628-7af3b634cc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81b0229-19ef-4425-8520-9f00e8db62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6f1c3b-ea25-4e6f-91c5-aeb92d62b0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4a2595-35b6-44ef-becd-33de771bf95a}" ma:internalName="TaxCatchAll" ma:showField="CatchAllData" ma:web="0c6f1c3b-ea25-4e6f-91c5-aeb92d62b0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c6f1c3b-ea25-4e6f-91c5-aeb92d62b0fb" xsi:nil="true"/>
    <lcf76f155ced4ddcb4097134ff3c332f xmlns="3b9dc015-dd13-448b-b628-7af3b634cca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BC96193-877C-46EA-BD01-2ACB11A8A0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ED4EEE-2A3A-407D-8227-6A4C7D493B1C}">
  <ds:schemaRefs>
    <ds:schemaRef ds:uri="0c6f1c3b-ea25-4e6f-91c5-aeb92d62b0fb"/>
    <ds:schemaRef ds:uri="3b9dc015-dd13-448b-b628-7af3b634cc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D0AC045-0708-4EF3-BE6A-CA4E594A0743}">
  <ds:schemaRefs>
    <ds:schemaRef ds:uri="0c6f1c3b-ea25-4e6f-91c5-aeb92d62b0fb"/>
    <ds:schemaRef ds:uri="3b9dc015-dd13-448b-b628-7af3b634cca4"/>
    <ds:schemaRef ds:uri="c90cec2b-93d2-4008-bfb8-7cd1dcbbdfab"/>
    <ds:schemaRef ds:uri="d27a9447-f7b8-4e88-b554-0e08d60bdf22"/>
    <ds:schemaRef ds:uri="eeb0e057-f6f3-4ccc-94ab-253765c3422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397</Words>
  <Application>Microsoft Office PowerPoint</Application>
  <PresentationFormat>Grand écran</PresentationFormat>
  <Paragraphs>59</Paragraphs>
  <Slides>18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18</vt:i4>
      </vt:variant>
    </vt:vector>
  </HeadingPairs>
  <TitlesOfParts>
    <vt:vector size="30" baseType="lpstr">
      <vt:lpstr>.HelveticaNeueDeskInterface-Regular</vt:lpstr>
      <vt:lpstr>Arial</vt:lpstr>
      <vt:lpstr>Arial Black</vt:lpstr>
      <vt:lpstr>ArialMT</vt:lpstr>
      <vt:lpstr>Calibri</vt:lpstr>
      <vt:lpstr>Lucida Grande</vt:lpstr>
      <vt:lpstr>LucidaGrande</vt:lpstr>
      <vt:lpstr>Times New Roman</vt:lpstr>
      <vt:lpstr>Wingdings</vt:lpstr>
      <vt:lpstr>Custom Design</vt:lpstr>
      <vt:lpstr>1_Custom Design</vt:lpstr>
      <vt:lpstr>Office Theme</vt:lpstr>
      <vt:lpstr>Fuel Subsidy</vt:lpstr>
      <vt:lpstr>Lecture outline</vt:lpstr>
      <vt:lpstr>Fuel Subsidy Tool</vt:lpstr>
      <vt:lpstr>Fuel Subsidy Tool</vt:lpstr>
      <vt:lpstr>Fuel Subsidy Tool</vt:lpstr>
      <vt:lpstr>Fuel Subsidy Tool</vt:lpstr>
      <vt:lpstr>Fuel Subsidy Tool</vt:lpstr>
      <vt:lpstr>Fuel Subsidy Tool</vt:lpstr>
      <vt:lpstr>Fuel Subsidy Tool</vt:lpstr>
      <vt:lpstr>Fuel Subsidy Tool</vt:lpstr>
      <vt:lpstr>Fuel Subsidy Tool</vt:lpstr>
      <vt:lpstr>Fuel Subsidy Tool</vt:lpstr>
      <vt:lpstr>Fuel Subsidy Tool</vt:lpstr>
      <vt:lpstr>Fuel Subsidy Tool</vt:lpstr>
      <vt:lpstr>Fuel Subsidy Tool</vt:lpstr>
      <vt:lpstr>Présentation PowerPoint</vt:lpstr>
      <vt:lpstr>Présentation PowerPoint</vt:lpstr>
      <vt:lpstr>Homework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Template and Instructions</dc:title>
  <dc:creator>Spatafora, Nikola</dc:creator>
  <cp:lastModifiedBy>Aziza Guellouz</cp:lastModifiedBy>
  <cp:revision>2</cp:revision>
  <cp:lastPrinted>2018-06-28T11:42:50Z</cp:lastPrinted>
  <dcterms:created xsi:type="dcterms:W3CDTF">2019-01-15T17:35:17Z</dcterms:created>
  <dcterms:modified xsi:type="dcterms:W3CDTF">2023-11-09T06:27:58Z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0x0101003808F46CC7369E44A38836926FD52CA4</vt:lpwstr>
  </property>
  <property fmtid="{D5CDD505-2E9C-101B-9397-08002B2CF9AE}" pid="4" name="MMSClassification">
    <vt:lpwstr>1</vt:lpwstr>
  </property>
  <property fmtid="{D5CDD505-2E9C-101B-9397-08002B2CF9AE}" pid="5" name="Order">
    <vt:r8>2200</vt:r8>
  </property>
  <property fmtid="{D5CDD505-2E9C-101B-9397-08002B2CF9AE}" pid="6" name="MMSTopics">
    <vt:lpwstr/>
  </property>
  <property fmtid="{D5CDD505-2E9C-101B-9397-08002B2CF9AE}" pid="7" name="MMSCountries">
    <vt:lpwstr/>
  </property>
  <property fmtid="{D5CDD505-2E9C-101B-9397-08002B2CF9AE}" pid="8" name="MMSDepartments">
    <vt:lpwstr>33</vt:lpwstr>
  </property>
  <property fmtid="{D5CDD505-2E9C-101B-9397-08002B2CF9AE}" pid="9" name="eDOCS AutoSave">
    <vt:lpwstr/>
  </property>
  <property fmtid="{D5CDD505-2E9C-101B-9397-08002B2CF9AE}" pid="10" name="MSIP_Label_0c07ed86-5dc5-4593-ad03-a8684b843815_Enabled">
    <vt:lpwstr>true</vt:lpwstr>
  </property>
  <property fmtid="{D5CDD505-2E9C-101B-9397-08002B2CF9AE}" pid="11" name="MSIP_Label_0c07ed86-5dc5-4593-ad03-a8684b843815_SetDate">
    <vt:lpwstr>2023-08-10T16:29:55Z</vt:lpwstr>
  </property>
  <property fmtid="{D5CDD505-2E9C-101B-9397-08002B2CF9AE}" pid="12" name="MSIP_Label_0c07ed86-5dc5-4593-ad03-a8684b843815_Method">
    <vt:lpwstr>Standard</vt:lpwstr>
  </property>
  <property fmtid="{D5CDD505-2E9C-101B-9397-08002B2CF9AE}" pid="13" name="MSIP_Label_0c07ed86-5dc5-4593-ad03-a8684b843815_Name">
    <vt:lpwstr>0c07ed86-5dc5-4593-ad03-a8684b843815</vt:lpwstr>
  </property>
  <property fmtid="{D5CDD505-2E9C-101B-9397-08002B2CF9AE}" pid="14" name="MSIP_Label_0c07ed86-5dc5-4593-ad03-a8684b843815_SiteId">
    <vt:lpwstr>8085fa43-302e-45bd-b171-a6648c3b6be7</vt:lpwstr>
  </property>
  <property fmtid="{D5CDD505-2E9C-101B-9397-08002B2CF9AE}" pid="15" name="MSIP_Label_0c07ed86-5dc5-4593-ad03-a8684b843815_ActionId">
    <vt:lpwstr>bdaf899b-2077-417e-aab4-0d763181fea1</vt:lpwstr>
  </property>
  <property fmtid="{D5CDD505-2E9C-101B-9397-08002B2CF9AE}" pid="16" name="MSIP_Label_0c07ed86-5dc5-4593-ad03-a8684b843815_ContentBits">
    <vt:lpwstr>0</vt:lpwstr>
  </property>
  <property fmtid="{D5CDD505-2E9C-101B-9397-08002B2CF9AE}" pid="17" name="MediaServiceImageTags">
    <vt:lpwstr/>
  </property>
</Properties>
</file>