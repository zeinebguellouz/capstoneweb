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" panose="00000500000000000000" pitchFamily="2" charset="0"/>
      <p:regular r:id="rId7"/>
    </p:embeddedFont>
    <p:embeddedFont>
      <p:font typeface="Montserrat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13.svg"/><Relationship Id="rId2" Type="http://schemas.openxmlformats.org/officeDocument/2006/relationships/image" Target="../media/image26.png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11" Type="http://schemas.openxmlformats.org/officeDocument/2006/relationships/image" Target="../media/image12.png"/><Relationship Id="rId5" Type="http://schemas.openxmlformats.org/officeDocument/2006/relationships/image" Target="../media/image29.png"/><Relationship Id="rId15" Type="http://schemas.openxmlformats.org/officeDocument/2006/relationships/image" Target="../media/image37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272552" cy="584969"/>
          </a:xfrm>
          <a:custGeom>
            <a:avLst/>
            <a:gdLst/>
            <a:ahLst/>
            <a:cxnLst/>
            <a:rect l="l" t="t" r="r" b="b"/>
            <a:pathLst>
              <a:path w="3272552" h="584969">
                <a:moveTo>
                  <a:pt x="0" y="0"/>
                </a:moveTo>
                <a:lnTo>
                  <a:pt x="3272552" y="0"/>
                </a:lnTo>
                <a:lnTo>
                  <a:pt x="3272552" y="584969"/>
                </a:lnTo>
                <a:lnTo>
                  <a:pt x="0" y="58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3885498" y="1028700"/>
            <a:ext cx="3373802" cy="656382"/>
          </a:xfrm>
          <a:custGeom>
            <a:avLst/>
            <a:gdLst/>
            <a:ahLst/>
            <a:cxnLst/>
            <a:rect l="l" t="t" r="r" b="b"/>
            <a:pathLst>
              <a:path w="3373802" h="656382">
                <a:moveTo>
                  <a:pt x="0" y="0"/>
                </a:moveTo>
                <a:lnTo>
                  <a:pt x="3373802" y="0"/>
                </a:lnTo>
                <a:lnTo>
                  <a:pt x="3373802" y="656382"/>
                </a:lnTo>
                <a:lnTo>
                  <a:pt x="0" y="656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0" y="5457638"/>
            <a:ext cx="18288000" cy="4452945"/>
          </a:xfrm>
          <a:custGeom>
            <a:avLst/>
            <a:gdLst/>
            <a:ahLst/>
            <a:cxnLst/>
            <a:rect l="l" t="t" r="r" b="b"/>
            <a:pathLst>
              <a:path w="18288000" h="4452945">
                <a:moveTo>
                  <a:pt x="0" y="0"/>
                </a:moveTo>
                <a:lnTo>
                  <a:pt x="18288000" y="0"/>
                </a:lnTo>
                <a:lnTo>
                  <a:pt x="18288000" y="4452945"/>
                </a:lnTo>
                <a:lnTo>
                  <a:pt x="0" y="445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79" b="-6555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5309890" y="3709913"/>
            <a:ext cx="766822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Smile Eyes x STAAR Surgical 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Partnering for Research Excellence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08765" y="5761690"/>
            <a:ext cx="3280837" cy="2278894"/>
            <a:chOff x="0" y="0"/>
            <a:chExt cx="4374449" cy="30385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4449" cy="2559053"/>
            </a:xfrm>
            <a:custGeom>
              <a:avLst/>
              <a:gdLst/>
              <a:ahLst/>
              <a:cxnLst/>
              <a:rect l="l" t="t" r="r" b="b"/>
              <a:pathLst>
                <a:path w="4374449" h="2559053">
                  <a:moveTo>
                    <a:pt x="0" y="0"/>
                  </a:moveTo>
                  <a:lnTo>
                    <a:pt x="4374449" y="0"/>
                  </a:lnTo>
                  <a:lnTo>
                    <a:pt x="4374449" y="2559053"/>
                  </a:lnTo>
                  <a:lnTo>
                    <a:pt x="0" y="2559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95325"/>
              <a:ext cx="4374449" cy="2743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</a:pPr>
              <a:r>
                <a:rPr lang="en-US" sz="1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Presented by:</a:t>
              </a:r>
            </a:p>
            <a:p>
              <a:pPr algn="ctr">
                <a:lnSpc>
                  <a:spcPts val="2040"/>
                </a:lnSpc>
              </a:pPr>
              <a:endParaRPr lang="en-US" sz="1700" b="1">
                <a:solidFill>
                  <a:srgbClr val="14145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Martin Bechmann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Dr. Martin Heese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Aziza Guellouz, M.Sc</a:t>
              </a:r>
            </a:p>
            <a:p>
              <a:pPr algn="ctr">
                <a:lnSpc>
                  <a:spcPts val="2040"/>
                </a:lnSpc>
              </a:pPr>
              <a:endParaRPr lang="en-US" sz="1700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2040"/>
                </a:lnSpc>
              </a:pPr>
              <a:endParaRPr lang="en-US" sz="1700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2040"/>
                </a:lnSpc>
              </a:pPr>
              <a:endParaRPr lang="en-US" sz="1700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198298" y="8365298"/>
            <a:ext cx="206100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dirty="0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31.01.2025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42793" y="1803531"/>
            <a:ext cx="9645207" cy="7616555"/>
          </a:xfrm>
          <a:custGeom>
            <a:avLst/>
            <a:gdLst/>
            <a:ahLst/>
            <a:cxnLst/>
            <a:rect l="l" t="t" r="r" b="b"/>
            <a:pathLst>
              <a:path w="9645207" h="7616555">
                <a:moveTo>
                  <a:pt x="0" y="0"/>
                </a:moveTo>
                <a:lnTo>
                  <a:pt x="9645207" y="0"/>
                </a:lnTo>
                <a:lnTo>
                  <a:pt x="9645207" y="7616555"/>
                </a:lnTo>
                <a:lnTo>
                  <a:pt x="0" y="7616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0" t="-20670" b="-2740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0" y="1803531"/>
            <a:ext cx="9144000" cy="8223813"/>
          </a:xfrm>
          <a:custGeom>
            <a:avLst/>
            <a:gdLst/>
            <a:ahLst/>
            <a:cxnLst/>
            <a:rect l="l" t="t" r="r" b="b"/>
            <a:pathLst>
              <a:path w="9144000" h="8223813">
                <a:moveTo>
                  <a:pt x="0" y="0"/>
                </a:moveTo>
                <a:lnTo>
                  <a:pt x="9144000" y="0"/>
                </a:lnTo>
                <a:lnTo>
                  <a:pt x="9144000" y="8223813"/>
                </a:lnTo>
                <a:lnTo>
                  <a:pt x="0" y="822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94" b="-2494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4548618" y="6485689"/>
            <a:ext cx="4293055" cy="2934397"/>
          </a:xfrm>
          <a:custGeom>
            <a:avLst/>
            <a:gdLst/>
            <a:ahLst/>
            <a:cxnLst/>
            <a:rect l="l" t="t" r="r" b="b"/>
            <a:pathLst>
              <a:path w="4293055" h="2934397">
                <a:moveTo>
                  <a:pt x="0" y="0"/>
                </a:moveTo>
                <a:lnTo>
                  <a:pt x="4293055" y="0"/>
                </a:lnTo>
                <a:lnTo>
                  <a:pt x="4293055" y="2934397"/>
                </a:lnTo>
                <a:lnTo>
                  <a:pt x="0" y="2934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4" b="-114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296767" y="6485689"/>
            <a:ext cx="4251851" cy="2934397"/>
          </a:xfrm>
          <a:custGeom>
            <a:avLst/>
            <a:gdLst/>
            <a:ahLst/>
            <a:cxnLst/>
            <a:rect l="l" t="t" r="r" b="b"/>
            <a:pathLst>
              <a:path w="4251851" h="2934397">
                <a:moveTo>
                  <a:pt x="0" y="0"/>
                </a:moveTo>
                <a:lnTo>
                  <a:pt x="4251851" y="0"/>
                </a:lnTo>
                <a:lnTo>
                  <a:pt x="4251851" y="2934397"/>
                </a:lnTo>
                <a:lnTo>
                  <a:pt x="0" y="2934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4" b="-114"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6" name="Group 6"/>
          <p:cNvGrpSpPr/>
          <p:nvPr/>
        </p:nvGrpSpPr>
        <p:grpSpPr>
          <a:xfrm>
            <a:off x="10445797" y="2430119"/>
            <a:ext cx="6233413" cy="6363379"/>
            <a:chOff x="0" y="0"/>
            <a:chExt cx="8311217" cy="8484505"/>
          </a:xfrm>
        </p:grpSpPr>
        <p:sp>
          <p:nvSpPr>
            <p:cNvPr id="7" name="Freeform 7"/>
            <p:cNvSpPr/>
            <p:nvPr/>
          </p:nvSpPr>
          <p:spPr>
            <a:xfrm>
              <a:off x="6703" y="39191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8"/>
                  </a:lnTo>
                  <a:lnTo>
                    <a:pt x="0" y="226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03" y="352855"/>
              <a:ext cx="3526269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20+ locations</a:t>
              </a:r>
            </a:p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 Germany and Austria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4784948" y="39191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8"/>
                  </a:lnTo>
                  <a:lnTo>
                    <a:pt x="0" y="226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4948" y="0"/>
              <a:ext cx="3526269" cy="218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20+ years </a:t>
              </a:r>
            </a:p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of expertise in refractive surgery.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703" y="3070341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8"/>
                  </a:lnTo>
                  <a:lnTo>
                    <a:pt x="0" y="226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147423"/>
              <a:ext cx="3526269" cy="223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30,000+ </a:t>
              </a:r>
              <a:r>
                <a:rPr lang="en-US" sz="24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operated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refractive procedures </a:t>
              </a:r>
            </a:p>
            <a:p>
              <a:pPr algn="ctr">
                <a:lnSpc>
                  <a:spcPts val="1920"/>
                </a:lnSpc>
                <a:spcBef>
                  <a:spcPct val="0"/>
                </a:spcBef>
              </a:pPr>
              <a:endParaRPr lang="en-US" sz="2400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703" y="6218878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7"/>
                  </a:lnTo>
                  <a:lnTo>
                    <a:pt x="0" y="226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03" y="6532541"/>
              <a:ext cx="3526269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 Years </a:t>
              </a:r>
              <a:r>
                <a:rPr lang="en-US" sz="2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of Experience with EVO ICL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784948" y="2942466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8"/>
                  </a:lnTo>
                  <a:lnTo>
                    <a:pt x="0" y="226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4948" y="3479776"/>
              <a:ext cx="3526269" cy="1092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150+</a:t>
              </a:r>
              <a:r>
                <a:rPr lang="en-US" sz="2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Research Projects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4784948" y="6218878"/>
              <a:ext cx="3526269" cy="2265628"/>
            </a:xfrm>
            <a:custGeom>
              <a:avLst/>
              <a:gdLst/>
              <a:ahLst/>
              <a:cxnLst/>
              <a:rect l="l" t="t" r="r" b="b"/>
              <a:pathLst>
                <a:path w="3526269" h="2265628">
                  <a:moveTo>
                    <a:pt x="0" y="0"/>
                  </a:moveTo>
                  <a:lnTo>
                    <a:pt x="3526269" y="0"/>
                  </a:lnTo>
                  <a:lnTo>
                    <a:pt x="3526269" y="2265627"/>
                  </a:lnTo>
                  <a:lnTo>
                    <a:pt x="0" y="226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84948" y="6532541"/>
              <a:ext cx="3526269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1,500+ </a:t>
              </a:r>
              <a:r>
                <a:rPr lang="en-US" sz="2700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EVO ICL Procedures in 2023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03878" y="661205"/>
            <a:ext cx="803891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97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Smile Eyes at a Glance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102020"/>
            <a:ext cx="9417097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A Leader in Refractive Surgery in Germany and Austria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6767" y="2639856"/>
            <a:ext cx="8847233" cy="250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6774" lvl="1" indent="-223387" algn="l">
              <a:lnSpc>
                <a:spcPts val="3332"/>
              </a:lnSpc>
              <a:buFont typeface="Arial"/>
              <a:buChar char="•"/>
            </a:pPr>
            <a:r>
              <a:rPr lang="en-US" sz="2468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Comprehensive eye care expertise</a:t>
            </a:r>
          </a:p>
          <a:p>
            <a:pPr marL="446774" lvl="1" indent="-223387" algn="l">
              <a:lnSpc>
                <a:spcPts val="3332"/>
              </a:lnSpc>
              <a:buFont typeface="Arial"/>
              <a:buChar char="•"/>
            </a:pPr>
            <a:r>
              <a:rPr lang="en-US" sz="2468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Full range of refractive procedures:</a:t>
            </a:r>
          </a:p>
          <a:p>
            <a:pPr marL="1073826" lvl="2" indent="-357942" algn="l">
              <a:lnSpc>
                <a:spcPts val="3332"/>
              </a:lnSpc>
              <a:buFont typeface="Arial"/>
              <a:buChar char="⚬"/>
            </a:pPr>
            <a:r>
              <a:rPr lang="en-US" sz="2468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Laser-based: SMILE, Femto-LASIK, LASEK/PRK/Trans-PRK</a:t>
            </a:r>
          </a:p>
          <a:p>
            <a:pPr marL="1073826" lvl="2" indent="-357942" algn="l">
              <a:lnSpc>
                <a:spcPts val="3332"/>
              </a:lnSpc>
              <a:buFont typeface="Arial"/>
              <a:buChar char="⚬"/>
            </a:pPr>
            <a:r>
              <a:rPr lang="en-US" sz="2468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Lens-based: ICL, CLE, Multifocal lenses</a:t>
            </a:r>
          </a:p>
          <a:p>
            <a:pPr marL="446774" lvl="1" indent="-223387" algn="l">
              <a:lnSpc>
                <a:spcPts val="3332"/>
              </a:lnSpc>
              <a:buFont typeface="Arial"/>
              <a:buChar char="•"/>
            </a:pPr>
            <a:r>
              <a:rPr lang="en-US" sz="2468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Eye health is at the heart of our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07379" y="3101464"/>
            <a:ext cx="6736320" cy="917824"/>
          </a:xfrm>
          <a:custGeom>
            <a:avLst/>
            <a:gdLst/>
            <a:ahLst/>
            <a:cxnLst/>
            <a:rect l="l" t="t" r="r" b="b"/>
            <a:pathLst>
              <a:path w="6736320" h="917824">
                <a:moveTo>
                  <a:pt x="0" y="0"/>
                </a:moveTo>
                <a:lnTo>
                  <a:pt x="6736320" y="0"/>
                </a:lnTo>
                <a:lnTo>
                  <a:pt x="6736320" y="917824"/>
                </a:lnTo>
                <a:lnTo>
                  <a:pt x="0" y="917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0207379" y="4770033"/>
            <a:ext cx="6736320" cy="917824"/>
          </a:xfrm>
          <a:custGeom>
            <a:avLst/>
            <a:gdLst/>
            <a:ahLst/>
            <a:cxnLst/>
            <a:rect l="l" t="t" r="r" b="b"/>
            <a:pathLst>
              <a:path w="6736320" h="917824">
                <a:moveTo>
                  <a:pt x="0" y="0"/>
                </a:moveTo>
                <a:lnTo>
                  <a:pt x="6736320" y="0"/>
                </a:lnTo>
                <a:lnTo>
                  <a:pt x="6736320" y="917824"/>
                </a:lnTo>
                <a:lnTo>
                  <a:pt x="0" y="917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10207379" y="6449857"/>
            <a:ext cx="6736320" cy="917824"/>
          </a:xfrm>
          <a:custGeom>
            <a:avLst/>
            <a:gdLst/>
            <a:ahLst/>
            <a:cxnLst/>
            <a:rect l="l" t="t" r="r" b="b"/>
            <a:pathLst>
              <a:path w="6736320" h="917824">
                <a:moveTo>
                  <a:pt x="0" y="0"/>
                </a:moveTo>
                <a:lnTo>
                  <a:pt x="6736320" y="0"/>
                </a:lnTo>
                <a:lnTo>
                  <a:pt x="6736320" y="917823"/>
                </a:lnTo>
                <a:lnTo>
                  <a:pt x="0" y="917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10207379" y="8026884"/>
            <a:ext cx="6953186" cy="947372"/>
          </a:xfrm>
          <a:custGeom>
            <a:avLst/>
            <a:gdLst/>
            <a:ahLst/>
            <a:cxnLst/>
            <a:rect l="l" t="t" r="r" b="b"/>
            <a:pathLst>
              <a:path w="6953186" h="947372">
                <a:moveTo>
                  <a:pt x="0" y="0"/>
                </a:moveTo>
                <a:lnTo>
                  <a:pt x="6953186" y="0"/>
                </a:lnTo>
                <a:lnTo>
                  <a:pt x="6953186" y="947371"/>
                </a:lnTo>
                <a:lnTo>
                  <a:pt x="0" y="947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0552041" y="3274626"/>
            <a:ext cx="604699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sz="1894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Peer-reviewed studies evaluating the safety, efficacy, and long-term performance of EVO ICL.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52041" y="4948822"/>
            <a:ext cx="547548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Comparative analyses comparing EVO ICL with other refractive solutions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2041" y="6623018"/>
            <a:ext cx="591370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sz="1894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Case studies documenting real-world outcomes and patient satisfaction.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96986" y="8214820"/>
            <a:ext cx="657397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88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Contributions to leading ophthalmology conferences through publications and presentations.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028700"/>
            <a:ext cx="9841919" cy="816270"/>
            <a:chOff x="0" y="0"/>
            <a:chExt cx="13122559" cy="10883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0"/>
              <a:ext cx="10718552" cy="596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75"/>
                </a:lnSpc>
              </a:pPr>
              <a:r>
                <a:rPr lang="en-US" sz="2979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We Deliver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429" y="694660"/>
              <a:ext cx="1255613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High-quality medical publications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6421" y="232617"/>
            <a:ext cx="983087" cy="595997"/>
          </a:xfrm>
          <a:custGeom>
            <a:avLst/>
            <a:gdLst/>
            <a:ahLst/>
            <a:cxnLst/>
            <a:rect l="l" t="t" r="r" b="b"/>
            <a:pathLst>
              <a:path w="983087" h="595997">
                <a:moveTo>
                  <a:pt x="0" y="0"/>
                </a:moveTo>
                <a:lnTo>
                  <a:pt x="983087" y="0"/>
                </a:lnTo>
                <a:lnTo>
                  <a:pt x="983087" y="595996"/>
                </a:lnTo>
                <a:lnTo>
                  <a:pt x="0" y="59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7280575" y="6970686"/>
            <a:ext cx="458961" cy="488256"/>
          </a:xfrm>
          <a:custGeom>
            <a:avLst/>
            <a:gdLst/>
            <a:ahLst/>
            <a:cxnLst/>
            <a:rect l="l" t="t" r="r" b="b"/>
            <a:pathLst>
              <a:path w="458961" h="488256">
                <a:moveTo>
                  <a:pt x="0" y="0"/>
                </a:moveTo>
                <a:lnTo>
                  <a:pt x="458961" y="0"/>
                </a:lnTo>
                <a:lnTo>
                  <a:pt x="458961" y="488256"/>
                </a:lnTo>
                <a:lnTo>
                  <a:pt x="0" y="488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184884" y="4194819"/>
            <a:ext cx="635607" cy="636402"/>
          </a:xfrm>
          <a:custGeom>
            <a:avLst/>
            <a:gdLst/>
            <a:ahLst/>
            <a:cxnLst/>
            <a:rect l="l" t="t" r="r" b="b"/>
            <a:pathLst>
              <a:path w="635607" h="636402">
                <a:moveTo>
                  <a:pt x="0" y="0"/>
                </a:moveTo>
                <a:lnTo>
                  <a:pt x="635606" y="0"/>
                </a:lnTo>
                <a:lnTo>
                  <a:pt x="635606" y="636402"/>
                </a:lnTo>
                <a:lnTo>
                  <a:pt x="0" y="636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1111998" y="7115584"/>
            <a:ext cx="575284" cy="470295"/>
          </a:xfrm>
          <a:custGeom>
            <a:avLst/>
            <a:gdLst/>
            <a:ahLst/>
            <a:cxnLst/>
            <a:rect l="l" t="t" r="r" b="b"/>
            <a:pathLst>
              <a:path w="575284" h="470295">
                <a:moveTo>
                  <a:pt x="0" y="0"/>
                </a:moveTo>
                <a:lnTo>
                  <a:pt x="575285" y="0"/>
                </a:lnTo>
                <a:lnTo>
                  <a:pt x="575285" y="470295"/>
                </a:lnTo>
                <a:lnTo>
                  <a:pt x="0" y="4702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4413293" y="7405600"/>
            <a:ext cx="516444" cy="0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 flipH="1">
            <a:off x="4910752" y="6685486"/>
            <a:ext cx="0" cy="737282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 flipH="1">
            <a:off x="6657059" y="4978103"/>
            <a:ext cx="467885" cy="0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 flipH="1">
            <a:off x="6674228" y="7422768"/>
            <a:ext cx="467885" cy="0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AutoShape 10"/>
          <p:cNvSpPr/>
          <p:nvPr/>
        </p:nvSpPr>
        <p:spPr>
          <a:xfrm>
            <a:off x="6674228" y="4960935"/>
            <a:ext cx="0" cy="737282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1" name="AutoShape 11"/>
          <p:cNvSpPr/>
          <p:nvPr/>
        </p:nvSpPr>
        <p:spPr>
          <a:xfrm>
            <a:off x="6691396" y="6685486"/>
            <a:ext cx="0" cy="737282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346421" y="4132280"/>
            <a:ext cx="630374" cy="647367"/>
          </a:xfrm>
          <a:custGeom>
            <a:avLst/>
            <a:gdLst/>
            <a:ahLst/>
            <a:cxnLst/>
            <a:rect l="l" t="t" r="r" b="b"/>
            <a:pathLst>
              <a:path w="630374" h="647367">
                <a:moveTo>
                  <a:pt x="0" y="0"/>
                </a:moveTo>
                <a:lnTo>
                  <a:pt x="630374" y="0"/>
                </a:lnTo>
                <a:lnTo>
                  <a:pt x="630374" y="647367"/>
                </a:lnTo>
                <a:lnTo>
                  <a:pt x="0" y="647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AutoShape 13"/>
          <p:cNvSpPr/>
          <p:nvPr/>
        </p:nvSpPr>
        <p:spPr>
          <a:xfrm flipV="1">
            <a:off x="4506923" y="5021993"/>
            <a:ext cx="449853" cy="0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4" name="AutoShape 14"/>
          <p:cNvSpPr/>
          <p:nvPr/>
        </p:nvSpPr>
        <p:spPr>
          <a:xfrm flipH="1">
            <a:off x="4956775" y="5004824"/>
            <a:ext cx="0" cy="737282"/>
          </a:xfrm>
          <a:prstGeom prst="line">
            <a:avLst/>
          </a:prstGeom>
          <a:ln w="38100" cap="flat">
            <a:solidFill>
              <a:srgbClr val="A6A6A6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8086602" y="4156719"/>
            <a:ext cx="3911685" cy="62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  <a:spcBef>
                <a:spcPct val="0"/>
              </a:spcBef>
            </a:pPr>
            <a:r>
              <a:rPr lang="en-US" sz="1802" b="1">
                <a:solidFill>
                  <a:srgbClr val="322E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Foster Interdisciplinary Collaboration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779017" y="2908766"/>
            <a:ext cx="5516548" cy="514350"/>
            <a:chOff x="0" y="0"/>
            <a:chExt cx="7355397" cy="685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3086" cy="353086"/>
            </a:xfrm>
            <a:custGeom>
              <a:avLst/>
              <a:gdLst/>
              <a:ahLst/>
              <a:cxnLst/>
              <a:rect l="l" t="t" r="r" b="b"/>
              <a:pathLst>
                <a:path w="353086" h="353086">
                  <a:moveTo>
                    <a:pt x="0" y="0"/>
                  </a:moveTo>
                  <a:lnTo>
                    <a:pt x="353086" y="0"/>
                  </a:lnTo>
                  <a:lnTo>
                    <a:pt x="353086" y="353086"/>
                  </a:lnTo>
                  <a:lnTo>
                    <a:pt x="0" y="353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086" y="0"/>
              <a:ext cx="7002311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Access to a diverse patient database and cutting-edge infrastructure.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79017" y="6342470"/>
            <a:ext cx="5516548" cy="514350"/>
            <a:chOff x="0" y="0"/>
            <a:chExt cx="7355397" cy="685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3086" cy="353086"/>
            </a:xfrm>
            <a:custGeom>
              <a:avLst/>
              <a:gdLst/>
              <a:ahLst/>
              <a:cxnLst/>
              <a:rect l="l" t="t" r="r" b="b"/>
              <a:pathLst>
                <a:path w="353086" h="353086">
                  <a:moveTo>
                    <a:pt x="0" y="0"/>
                  </a:moveTo>
                  <a:lnTo>
                    <a:pt x="353086" y="0"/>
                  </a:lnTo>
                  <a:lnTo>
                    <a:pt x="353086" y="353086"/>
                  </a:lnTo>
                  <a:lnTo>
                    <a:pt x="0" y="353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086" y="0"/>
              <a:ext cx="7002311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Expertise from 150+ research projects and a track record of impactful results.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79017" y="3963493"/>
            <a:ext cx="5516548" cy="514350"/>
            <a:chOff x="0" y="0"/>
            <a:chExt cx="7355397" cy="685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3086" cy="353086"/>
            </a:xfrm>
            <a:custGeom>
              <a:avLst/>
              <a:gdLst/>
              <a:ahLst/>
              <a:cxnLst/>
              <a:rect l="l" t="t" r="r" b="b"/>
              <a:pathLst>
                <a:path w="353086" h="353086">
                  <a:moveTo>
                    <a:pt x="0" y="0"/>
                  </a:moveTo>
                  <a:lnTo>
                    <a:pt x="353086" y="0"/>
                  </a:lnTo>
                  <a:lnTo>
                    <a:pt x="353086" y="353086"/>
                  </a:lnTo>
                  <a:lnTo>
                    <a:pt x="0" y="353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3086" y="0"/>
              <a:ext cx="7002311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Leadership in EVO ICL implementation and proven patient outcomes.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779017" y="5154118"/>
            <a:ext cx="5516548" cy="514350"/>
            <a:chOff x="0" y="0"/>
            <a:chExt cx="7355397" cy="685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3086" cy="353086"/>
            </a:xfrm>
            <a:custGeom>
              <a:avLst/>
              <a:gdLst/>
              <a:ahLst/>
              <a:cxnLst/>
              <a:rect l="l" t="t" r="r" b="b"/>
              <a:pathLst>
                <a:path w="353086" h="353086">
                  <a:moveTo>
                    <a:pt x="0" y="0"/>
                  </a:moveTo>
                  <a:lnTo>
                    <a:pt x="353086" y="0"/>
                  </a:lnTo>
                  <a:lnTo>
                    <a:pt x="353086" y="353086"/>
                  </a:lnTo>
                  <a:lnTo>
                    <a:pt x="0" y="353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3086" y="0"/>
              <a:ext cx="7002311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Access to a diverse patient database and comprehensive case history.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086602" y="4835168"/>
            <a:ext cx="33590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Combine expertise from clinicians, researchers, and Smile Eyes teams to develop innovative studies.</a:t>
            </a:r>
          </a:p>
          <a:p>
            <a:pPr algn="l">
              <a:lnSpc>
                <a:spcPts val="225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11346" y="7610671"/>
            <a:ext cx="33590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Analyze real-world outcomes ethically and systematically to create impactful studies.</a:t>
            </a:r>
          </a:p>
          <a:p>
            <a:pPr algn="l">
              <a:lnSpc>
                <a:spcPts val="225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739536" y="7610671"/>
            <a:ext cx="33590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Collaborate with experienced surgeons for clinical insights and research contributions.</a:t>
            </a:r>
          </a:p>
          <a:p>
            <a:pPr algn="l">
              <a:lnSpc>
                <a:spcPts val="225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19235" y="4645296"/>
            <a:ext cx="33590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Utilize state-of-the-art facilities and advanced technology for precise data collection.</a:t>
            </a:r>
          </a:p>
          <a:p>
            <a:pPr algn="just">
              <a:lnSpc>
                <a:spcPts val="225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25085" y="4200609"/>
            <a:ext cx="3212542" cy="30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  <a:spcBef>
                <a:spcPct val="0"/>
              </a:spcBef>
            </a:pPr>
            <a:r>
              <a:rPr lang="en-US" sz="1802" b="1">
                <a:solidFill>
                  <a:srgbClr val="322E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Leverage Clinic Resources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7297" y="7176714"/>
            <a:ext cx="3359040" cy="30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3"/>
              </a:lnSpc>
              <a:spcBef>
                <a:spcPct val="0"/>
              </a:spcBef>
            </a:pPr>
            <a:r>
              <a:rPr lang="en-US" sz="1802" b="1">
                <a:solidFill>
                  <a:srgbClr val="322E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Utilize Patient Data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37439" y="7112834"/>
            <a:ext cx="3508203" cy="30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  <a:spcBef>
                <a:spcPct val="0"/>
              </a:spcBef>
            </a:pPr>
            <a:r>
              <a:rPr lang="en-US" sz="1802" b="1">
                <a:solidFill>
                  <a:srgbClr val="322E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Engage Expert Doctors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29494" y="5964409"/>
            <a:ext cx="2477418" cy="72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"/>
              </a:lnSpc>
              <a:spcBef>
                <a:spcPct val="0"/>
              </a:spcBef>
            </a:pPr>
            <a:r>
              <a:rPr lang="en-US" sz="1622" b="1">
                <a:solidFill>
                  <a:srgbClr val="1414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Approach to Driving Impactful Research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7890" y="971550"/>
            <a:ext cx="8472250" cy="505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  <a:spcBef>
                <a:spcPct val="0"/>
              </a:spcBef>
            </a:pPr>
            <a:r>
              <a:rPr lang="en-US" sz="2979">
                <a:solidFill>
                  <a:srgbClr val="322E64"/>
                </a:solidFill>
                <a:latin typeface="Montserrat"/>
                <a:ea typeface="Montserrat"/>
                <a:cs typeface="Montserrat"/>
                <a:sym typeface="Montserrat"/>
              </a:rPr>
              <a:t>Our Approach to Driving Impactful Research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7890" y="1438783"/>
            <a:ext cx="13516382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322E64"/>
                </a:solidFill>
                <a:latin typeface="Montserrat"/>
                <a:ea typeface="Montserrat"/>
                <a:cs typeface="Montserrat"/>
                <a:sym typeface="Montserrat"/>
              </a:rPr>
              <a:t>Leveraging expertise, collaboration, and data for meaningful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341" y="2117231"/>
            <a:ext cx="9987461" cy="6054898"/>
          </a:xfrm>
          <a:custGeom>
            <a:avLst/>
            <a:gdLst/>
            <a:ahLst/>
            <a:cxnLst/>
            <a:rect l="l" t="t" r="r" b="b"/>
            <a:pathLst>
              <a:path w="9987461" h="6054898">
                <a:moveTo>
                  <a:pt x="0" y="0"/>
                </a:moveTo>
                <a:lnTo>
                  <a:pt x="9987461" y="0"/>
                </a:lnTo>
                <a:lnTo>
                  <a:pt x="9987461" y="6054899"/>
                </a:lnTo>
                <a:lnTo>
                  <a:pt x="0" y="6054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0560501" y="2825320"/>
            <a:ext cx="310911" cy="278265"/>
          </a:xfrm>
          <a:custGeom>
            <a:avLst/>
            <a:gdLst/>
            <a:ahLst/>
            <a:cxnLst/>
            <a:rect l="l" t="t" r="r" b="b"/>
            <a:pathLst>
              <a:path w="310911" h="278265">
                <a:moveTo>
                  <a:pt x="0" y="0"/>
                </a:moveTo>
                <a:lnTo>
                  <a:pt x="310911" y="0"/>
                </a:lnTo>
                <a:lnTo>
                  <a:pt x="310911" y="278265"/>
                </a:lnTo>
                <a:lnTo>
                  <a:pt x="0" y="278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10812564" y="4109901"/>
            <a:ext cx="273488" cy="273488"/>
          </a:xfrm>
          <a:custGeom>
            <a:avLst/>
            <a:gdLst/>
            <a:ahLst/>
            <a:cxnLst/>
            <a:rect l="l" t="t" r="r" b="b"/>
            <a:pathLst>
              <a:path w="273488" h="273488">
                <a:moveTo>
                  <a:pt x="0" y="0"/>
                </a:moveTo>
                <a:lnTo>
                  <a:pt x="273488" y="0"/>
                </a:lnTo>
                <a:lnTo>
                  <a:pt x="273488" y="273488"/>
                </a:lnTo>
                <a:lnTo>
                  <a:pt x="0" y="2734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1361122" y="3923464"/>
            <a:ext cx="1895060" cy="1584744"/>
          </a:xfrm>
          <a:custGeom>
            <a:avLst/>
            <a:gdLst/>
            <a:ahLst/>
            <a:cxnLst/>
            <a:rect l="l" t="t" r="r" b="b"/>
            <a:pathLst>
              <a:path w="1895060" h="1584744">
                <a:moveTo>
                  <a:pt x="0" y="0"/>
                </a:moveTo>
                <a:lnTo>
                  <a:pt x="1895061" y="0"/>
                </a:lnTo>
                <a:lnTo>
                  <a:pt x="1895061" y="1584744"/>
                </a:lnTo>
                <a:lnTo>
                  <a:pt x="0" y="1584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3994430" y="5300362"/>
            <a:ext cx="207846" cy="207846"/>
          </a:xfrm>
          <a:custGeom>
            <a:avLst/>
            <a:gdLst/>
            <a:ahLst/>
            <a:cxnLst/>
            <a:rect l="l" t="t" r="r" b="b"/>
            <a:pathLst>
              <a:path w="207846" h="207846">
                <a:moveTo>
                  <a:pt x="0" y="0"/>
                </a:moveTo>
                <a:lnTo>
                  <a:pt x="207846" y="0"/>
                </a:lnTo>
                <a:lnTo>
                  <a:pt x="207846" y="207846"/>
                </a:lnTo>
                <a:lnTo>
                  <a:pt x="0" y="2078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3994430" y="4005978"/>
            <a:ext cx="207846" cy="207846"/>
          </a:xfrm>
          <a:custGeom>
            <a:avLst/>
            <a:gdLst/>
            <a:ahLst/>
            <a:cxnLst/>
            <a:rect l="l" t="t" r="r" b="b"/>
            <a:pathLst>
              <a:path w="207846" h="207846">
                <a:moveTo>
                  <a:pt x="0" y="0"/>
                </a:moveTo>
                <a:lnTo>
                  <a:pt x="207846" y="0"/>
                </a:lnTo>
                <a:lnTo>
                  <a:pt x="207846" y="207846"/>
                </a:lnTo>
                <a:lnTo>
                  <a:pt x="0" y="2078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>
            <a:off x="10360552" y="2526681"/>
            <a:ext cx="6802551" cy="926848"/>
          </a:xfrm>
          <a:custGeom>
            <a:avLst/>
            <a:gdLst/>
            <a:ahLst/>
            <a:cxnLst/>
            <a:rect l="l" t="t" r="r" b="b"/>
            <a:pathLst>
              <a:path w="6802551" h="926848">
                <a:moveTo>
                  <a:pt x="0" y="0"/>
                </a:moveTo>
                <a:lnTo>
                  <a:pt x="6802551" y="0"/>
                </a:lnTo>
                <a:lnTo>
                  <a:pt x="6802551" y="926847"/>
                </a:lnTo>
                <a:lnTo>
                  <a:pt x="0" y="9268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11319087" y="2771256"/>
            <a:ext cx="523042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 b="1">
                <a:solidFill>
                  <a:srgbClr val="1414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Credibility</a:t>
            </a:r>
            <a:r>
              <a:rPr lang="en-US" sz="1594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: Peer-reviewed studies enhance EVO ICL’s reputation worldwide.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771" y="4091898"/>
            <a:ext cx="473314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584" b="1">
                <a:solidFill>
                  <a:srgbClr val="081D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Informed Decisions: </a:t>
            </a:r>
            <a:r>
              <a:rPr lang="en-US" sz="1584">
                <a:solidFill>
                  <a:srgbClr val="081D4F"/>
                </a:solidFill>
                <a:latin typeface="Montserrat"/>
                <a:ea typeface="Montserrat"/>
                <a:cs typeface="Montserrat"/>
                <a:sym typeface="Montserrat"/>
              </a:rPr>
              <a:t>Comparative data supports objective clinical choices.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04005" y="3837618"/>
            <a:ext cx="5338894" cy="216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2451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 Delivering premium quality to our patients</a:t>
            </a:r>
          </a:p>
          <a:p>
            <a:pPr algn="l">
              <a:lnSpc>
                <a:spcPts val="1985"/>
              </a:lnSpc>
            </a:pPr>
            <a:endParaRPr lang="en-US" sz="2451">
              <a:solidFill>
                <a:srgbClr val="1414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00"/>
              </a:lnSpc>
            </a:pPr>
            <a:r>
              <a:rPr lang="en-US" sz="2451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Driving innovation in refractive surgery.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4117" y="5700498"/>
            <a:ext cx="310031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1414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Shared Commitment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42988"/>
            <a:ext cx="758368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979">
                <a:solidFill>
                  <a:srgbClr val="141450"/>
                </a:solidFill>
                <a:latin typeface="Montserrat"/>
                <a:ea typeface="Montserrat"/>
                <a:cs typeface="Montserrat"/>
                <a:sym typeface="Montserrat"/>
              </a:rPr>
              <a:t>Shaping the Future of Vision Together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0579" y="8798698"/>
            <a:ext cx="14746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1414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Partner with us to make EVO ICL the first choice for doctors and patients globally.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360552" y="3876124"/>
            <a:ext cx="6802551" cy="926848"/>
          </a:xfrm>
          <a:custGeom>
            <a:avLst/>
            <a:gdLst/>
            <a:ahLst/>
            <a:cxnLst/>
            <a:rect l="l" t="t" r="r" b="b"/>
            <a:pathLst>
              <a:path w="6802551" h="926848">
                <a:moveTo>
                  <a:pt x="0" y="0"/>
                </a:moveTo>
                <a:lnTo>
                  <a:pt x="6802551" y="0"/>
                </a:lnTo>
                <a:lnTo>
                  <a:pt x="6802551" y="926847"/>
                </a:lnTo>
                <a:lnTo>
                  <a:pt x="0" y="9268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6" name="Group 16"/>
          <p:cNvGrpSpPr/>
          <p:nvPr/>
        </p:nvGrpSpPr>
        <p:grpSpPr>
          <a:xfrm>
            <a:off x="10404296" y="5222071"/>
            <a:ext cx="6802551" cy="926848"/>
            <a:chOff x="0" y="0"/>
            <a:chExt cx="9070067" cy="1235797"/>
          </a:xfrm>
        </p:grpSpPr>
        <p:sp>
          <p:nvSpPr>
            <p:cNvPr id="17" name="Freeform 17"/>
            <p:cNvSpPr/>
            <p:nvPr/>
          </p:nvSpPr>
          <p:spPr>
            <a:xfrm>
              <a:off x="549490" y="287382"/>
              <a:ext cx="417842" cy="373969"/>
            </a:xfrm>
            <a:custGeom>
              <a:avLst/>
              <a:gdLst/>
              <a:ahLst/>
              <a:cxnLst/>
              <a:rect l="l" t="t" r="r" b="b"/>
              <a:pathLst>
                <a:path w="417842" h="373969">
                  <a:moveTo>
                    <a:pt x="0" y="0"/>
                  </a:moveTo>
                  <a:lnTo>
                    <a:pt x="417843" y="0"/>
                  </a:lnTo>
                  <a:lnTo>
                    <a:pt x="417843" y="373968"/>
                  </a:lnTo>
                  <a:lnTo>
                    <a:pt x="0" y="373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5303" y="343850"/>
              <a:ext cx="6973897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594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Patient Trust:</a:t>
              </a:r>
              <a:r>
                <a:rPr lang="en-US" sz="1594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Real-world outcomes build confidence and demand.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070067" cy="1235797"/>
            </a:xfrm>
            <a:custGeom>
              <a:avLst/>
              <a:gdLst/>
              <a:ahLst/>
              <a:cxnLst/>
              <a:rect l="l" t="t" r="r" b="b"/>
              <a:pathLst>
                <a:path w="9070067" h="1235797">
                  <a:moveTo>
                    <a:pt x="0" y="0"/>
                  </a:moveTo>
                  <a:lnTo>
                    <a:pt x="9070067" y="0"/>
                  </a:lnTo>
                  <a:lnTo>
                    <a:pt x="9070067" y="1235797"/>
                  </a:lnTo>
                  <a:lnTo>
                    <a:pt x="0" y="123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60552" y="6568019"/>
            <a:ext cx="6802551" cy="926848"/>
            <a:chOff x="0" y="0"/>
            <a:chExt cx="9070067" cy="1235797"/>
          </a:xfrm>
        </p:grpSpPr>
        <p:sp>
          <p:nvSpPr>
            <p:cNvPr id="21" name="Freeform 21"/>
            <p:cNvSpPr/>
            <p:nvPr/>
          </p:nvSpPr>
          <p:spPr>
            <a:xfrm>
              <a:off x="444759" y="230601"/>
              <a:ext cx="522574" cy="469847"/>
            </a:xfrm>
            <a:custGeom>
              <a:avLst/>
              <a:gdLst/>
              <a:ahLst/>
              <a:cxnLst/>
              <a:rect l="l" t="t" r="r" b="b"/>
              <a:pathLst>
                <a:path w="522574" h="469847">
                  <a:moveTo>
                    <a:pt x="0" y="0"/>
                  </a:moveTo>
                  <a:lnTo>
                    <a:pt x="522574" y="0"/>
                  </a:lnTo>
                  <a:lnTo>
                    <a:pt x="522574" y="469847"/>
                  </a:lnTo>
                  <a:lnTo>
                    <a:pt x="0" y="469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497" y="373423"/>
              <a:ext cx="6951073" cy="64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06"/>
                </a:lnSpc>
              </a:pPr>
              <a:r>
                <a:rPr lang="en-US" sz="1589" b="1">
                  <a:solidFill>
                    <a:srgbClr val="14145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Market Growth: </a:t>
              </a:r>
              <a:r>
                <a:rPr lang="en-US" sz="1589">
                  <a:solidFill>
                    <a:srgbClr val="1414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Scientific contributions drive adoption in new regions.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9070067" cy="1235797"/>
            </a:xfrm>
            <a:custGeom>
              <a:avLst/>
              <a:gdLst/>
              <a:ahLst/>
              <a:cxnLst/>
              <a:rect l="l" t="t" r="r" b="b"/>
              <a:pathLst>
                <a:path w="9070067" h="1235797">
                  <a:moveTo>
                    <a:pt x="0" y="0"/>
                  </a:moveTo>
                  <a:lnTo>
                    <a:pt x="9070067" y="0"/>
                  </a:lnTo>
                  <a:lnTo>
                    <a:pt x="9070067" y="1235797"/>
                  </a:lnTo>
                  <a:lnTo>
                    <a:pt x="0" y="123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Personnalisé</PresentationFormat>
  <Paragraphs>56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Montserrat</vt:lpstr>
      <vt:lpstr>Montserrat 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 (1).pptx</dc:title>
  <cp:lastModifiedBy>Aziza Guellouz</cp:lastModifiedBy>
  <cp:revision>2</cp:revision>
  <dcterms:created xsi:type="dcterms:W3CDTF">2006-08-16T00:00:00Z</dcterms:created>
  <dcterms:modified xsi:type="dcterms:W3CDTF">2025-01-14T18:52:20Z</dcterms:modified>
  <dc:identifier>DAGcKOQn6qk</dc:identifier>
</cp:coreProperties>
</file>