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0" autoAdjust="0"/>
    <p:restoredTop sz="94660"/>
  </p:normalViewPr>
  <p:slideViewPr>
    <p:cSldViewPr snapToGrid="0">
      <p:cViewPr>
        <p:scale>
          <a:sx n="111" d="100"/>
          <a:sy n="111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D780-3A73-AEC5-0269-560B21573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E3815-EA40-008F-17E0-731D9B718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D3170-46A2-535A-8120-636534DE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E3E8A-2BF3-325D-D5B1-F436EADB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EBABB-ACCC-F89F-ED14-008B38C2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8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4F53-230B-5A0D-220B-0A8B5F62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6F2E5-8888-BCD3-F4CC-8E68BA367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8B9FF-4835-C47D-C475-DAF90331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18380-F85F-9202-1E10-A702E9F1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B6BD9-17F5-6B84-1D96-9D3B1F86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2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8BBB-C1AE-876D-003F-2E426592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AF4F4-0735-D697-2F33-FE4464F1A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68B4-1A62-C8DC-A333-7DBCBCB5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F8EC6-0B1F-FD1F-648C-A9DB4667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C14F8-B680-1072-03B0-9EEE9F97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6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A198-7DDB-FD9D-612B-A7F2715B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449EF-DC5F-0DED-E458-850316076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A6F55-E090-B4DD-BE73-29CA1D269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70FF9-D800-FD0D-38E9-D6FC580C6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4ACA1-DF5C-9970-D55D-7C233128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DB301-E750-E336-DBDD-718C4D0F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5204-63A9-7BB7-AB0F-AD572B93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9A2B-EE61-0DAC-5400-A61AE106F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4C279-CDCD-7960-880D-0DD6AA70F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90DFD-0F36-6D17-E11E-A1077D078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E753F-C2FB-2191-8F97-50F6C4C48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57666-6327-F578-564C-F6584868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29C33-7A60-3B92-9149-B1C3957F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CDCF5-767D-39E1-B8F4-664298CB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2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CAA5-1679-470B-95F4-17998AB1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23F30-3C6F-E3A4-78DD-7A687457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E70F1-4764-3495-7E95-96B13A2C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DE669-37E1-E54E-7981-5E101462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6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57FE3-F060-DEE3-BC91-23FFF425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DC0D5-B2F5-F31C-0245-79F29FC3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F9E56-2C5C-79B6-FA23-E5E06918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A7D5-C2F3-4297-44AD-98E99FD0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B9E81-AF76-D5C0-810B-285AC674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84418-4F05-4F9E-E761-8FDEFFEA4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24C32-ADD4-82B1-3BC6-AA56999E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C1444-07CA-8394-786A-72F5AD6D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79AE4-8302-21C4-BF59-0EA1CBBC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5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9D32-573E-3ABB-8AFF-3CA3DF07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652F-3B17-F062-4BD8-05177EB76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82E79-DC4A-2359-39D4-4AA185FFF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EF65F-62EF-6B77-485E-E95AB4B0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6AA77-63DE-3C2D-B59F-826EA03F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6D0E5-0D7C-368D-CDD9-DF2ECC34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1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1BD1-C1C2-6531-776F-BFC588227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DDA69-B87E-CCA5-085E-C76D7C3C2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36053-E898-A188-46E2-A304DF9D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85706-27F1-4D5C-F758-92CF2DAC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C98C7-3389-FA82-A632-DCF464F0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1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FFFE8-19F7-A989-1CB6-34DC80F0C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D81B6-7173-BFF9-4B37-D4AE9CAF5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E32-858C-0F10-72B1-6DD3E760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DC736-E21A-3152-B0E0-7D6C1588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A4DA8-FD8E-26F0-5596-710E2F92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6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DF031-94DD-2435-8D20-43FA20214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A22E5-F541-7A92-A074-55AD080AB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E71EA-A6D0-6A81-F6B5-008E29416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29D15-9AC6-45DB-9E03-706B7002FBD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5D5F0-1F7C-0510-F7CA-FD9EEF9D0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4EBC6-D519-F961-602A-DE5580A52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702A1-E250-4C52-AFC2-0613B24E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5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5836AD-A49E-4381-3270-6E2A10802CA0}"/>
              </a:ext>
            </a:extLst>
          </p:cNvPr>
          <p:cNvSpPr txBox="1"/>
          <p:nvPr/>
        </p:nvSpPr>
        <p:spPr>
          <a:xfrm>
            <a:off x="3047427" y="3107554"/>
            <a:ext cx="6094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Smile Eyes x STAAR Surgical: Partnering for Research Excellence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A2C2D-4598-58DB-3827-0371E383D1D4}"/>
              </a:ext>
            </a:extLst>
          </p:cNvPr>
          <p:cNvSpPr txBox="1"/>
          <p:nvPr/>
        </p:nvSpPr>
        <p:spPr>
          <a:xfrm>
            <a:off x="3416968" y="4283242"/>
            <a:ext cx="2756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</a:t>
            </a:r>
          </a:p>
          <a:p>
            <a:r>
              <a:rPr lang="de-DE" dirty="0"/>
              <a:t>Dr. Martin Bechmann</a:t>
            </a:r>
          </a:p>
          <a:p>
            <a:r>
              <a:rPr lang="de-DE" dirty="0"/>
              <a:t>Dr. Martin Heese</a:t>
            </a:r>
          </a:p>
          <a:p>
            <a:r>
              <a:rPr lang="de-DE" dirty="0"/>
              <a:t>Aziza Guellouz, </a:t>
            </a:r>
            <a:r>
              <a:rPr lang="de-DE" dirty="0" err="1"/>
              <a:t>M.Sc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3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5D8B8-3D0B-4DDE-5D66-BD7079A5DEAD}"/>
              </a:ext>
            </a:extLst>
          </p:cNvPr>
          <p:cNvSpPr txBox="1"/>
          <p:nvPr/>
        </p:nvSpPr>
        <p:spPr>
          <a:xfrm>
            <a:off x="399396" y="311200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Smile Eyes at a Glance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BF6B7-508C-6D58-2CEE-A42F116DAA37}"/>
              </a:ext>
            </a:extLst>
          </p:cNvPr>
          <p:cNvSpPr txBox="1"/>
          <p:nvPr/>
        </p:nvSpPr>
        <p:spPr>
          <a:xfrm>
            <a:off x="476106" y="680532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Leader in Refractive Surgery in Germany and Austria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008D9B-6DC7-C081-43E5-A2CF43068060}"/>
              </a:ext>
            </a:extLst>
          </p:cNvPr>
          <p:cNvSpPr/>
          <p:nvPr/>
        </p:nvSpPr>
        <p:spPr>
          <a:xfrm>
            <a:off x="7892716" y="1416289"/>
            <a:ext cx="1650043" cy="1213471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20+ locations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in Germany and Austria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035E0F-00F8-98D1-B515-7206F3D57964}"/>
              </a:ext>
            </a:extLst>
          </p:cNvPr>
          <p:cNvSpPr/>
          <p:nvPr/>
        </p:nvSpPr>
        <p:spPr>
          <a:xfrm>
            <a:off x="9908292" y="1416289"/>
            <a:ext cx="1650043" cy="12134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20+ years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of expertise in refractive surgery.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38C35A-F9F6-3FB6-DE4F-49712649E2FF}"/>
              </a:ext>
            </a:extLst>
          </p:cNvPr>
          <p:cNvSpPr/>
          <p:nvPr/>
        </p:nvSpPr>
        <p:spPr>
          <a:xfrm>
            <a:off x="9908291" y="3014770"/>
            <a:ext cx="1650043" cy="12134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150+ Research Projects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B70689A-2FD6-ADE9-7517-AC6691A41276}"/>
              </a:ext>
            </a:extLst>
          </p:cNvPr>
          <p:cNvSpPr/>
          <p:nvPr/>
        </p:nvSpPr>
        <p:spPr>
          <a:xfrm>
            <a:off x="7892715" y="3014769"/>
            <a:ext cx="1650043" cy="12134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30,000+ </a:t>
            </a:r>
            <a:r>
              <a:rPr lang="en-US" dirty="0">
                <a:solidFill>
                  <a:schemeClr val="tx1"/>
                </a:solidFill>
              </a:rPr>
              <a:t>operated</a:t>
            </a:r>
          </a:p>
          <a:p>
            <a:r>
              <a:rPr lang="en-US" dirty="0">
                <a:solidFill>
                  <a:schemeClr val="tx1"/>
                </a:solidFill>
              </a:rPr>
              <a:t>refractive procedures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D5F41D-8CC2-AD70-FF9F-686295B77813}"/>
              </a:ext>
            </a:extLst>
          </p:cNvPr>
          <p:cNvSpPr/>
          <p:nvPr/>
        </p:nvSpPr>
        <p:spPr>
          <a:xfrm>
            <a:off x="9908291" y="4613251"/>
            <a:ext cx="1650043" cy="12134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1,500+ EVO ICL Procedures in 2023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8BB763E-7ABA-5108-44BE-7208ED25BBD6}"/>
              </a:ext>
            </a:extLst>
          </p:cNvPr>
          <p:cNvSpPr/>
          <p:nvPr/>
        </p:nvSpPr>
        <p:spPr>
          <a:xfrm>
            <a:off x="7892714" y="4613251"/>
            <a:ext cx="1650043" cy="12134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15 Years of Experience with EVO ICL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45CA4C5-26FA-079E-C98F-62B34AC87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859" y="3704932"/>
            <a:ext cx="3609103" cy="24725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71AB7B-E0C4-97DA-C1D1-9CE83FB37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96" y="3704933"/>
            <a:ext cx="3574463" cy="247253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CC5461-2BC2-9CB7-D51D-ED46A307055F}"/>
              </a:ext>
            </a:extLst>
          </p:cNvPr>
          <p:cNvSpPr txBox="1"/>
          <p:nvPr/>
        </p:nvSpPr>
        <p:spPr>
          <a:xfrm>
            <a:off x="633665" y="1546401"/>
            <a:ext cx="65726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Comprehensive eye care expertise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range of refractive procedures: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Laser-based: SMILE, Femto-LASIK, LASEK/PRK/Trans-PRK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Lens-based: ICL, CLE, Multifocal lenses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Eye health is at the heart of our work</a:t>
            </a:r>
          </a:p>
        </p:txBody>
      </p:sp>
    </p:spTree>
    <p:extLst>
      <p:ext uri="{BB962C8B-B14F-4D97-AF65-F5344CB8AC3E}">
        <p14:creationId xmlns:p14="http://schemas.microsoft.com/office/powerpoint/2010/main" val="418444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2CAAB4-4EEB-B857-3408-8455FC9B2938}"/>
              </a:ext>
            </a:extLst>
          </p:cNvPr>
          <p:cNvSpPr txBox="1"/>
          <p:nvPr/>
        </p:nvSpPr>
        <p:spPr>
          <a:xfrm>
            <a:off x="737364" y="330973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Focused Collaboration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9896A-D33E-0DA6-0181-120C4D3D1054}"/>
              </a:ext>
            </a:extLst>
          </p:cNvPr>
          <p:cNvSpPr txBox="1"/>
          <p:nvPr/>
        </p:nvSpPr>
        <p:spPr>
          <a:xfrm>
            <a:off x="737364" y="700305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Research as the Cornerstone of Partnership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594CB-A076-233D-2742-58E892311622}"/>
              </a:ext>
            </a:extLst>
          </p:cNvPr>
          <p:cNvSpPr txBox="1"/>
          <p:nvPr/>
        </p:nvSpPr>
        <p:spPr>
          <a:xfrm>
            <a:off x="811272" y="1546918"/>
            <a:ext cx="83310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Produce high-quality medical publications on EVO ICL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Scope: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Long-term safety and efficacy studies.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Comparative analyses with other refractive solutions.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Insights into demographic-specific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Outcome:</a:t>
            </a:r>
            <a:r>
              <a:rPr lang="en-US" dirty="0"/>
              <a:t> Establish EVO ICL as the premier refractive surgery option globally. </a:t>
            </a:r>
          </a:p>
        </p:txBody>
      </p:sp>
    </p:spTree>
    <p:extLst>
      <p:ext uri="{BB962C8B-B14F-4D97-AF65-F5344CB8AC3E}">
        <p14:creationId xmlns:p14="http://schemas.microsoft.com/office/powerpoint/2010/main" val="113389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029E7-BB99-B5B5-F4F6-2DD8F159C4C6}"/>
              </a:ext>
            </a:extLst>
          </p:cNvPr>
          <p:cNvSpPr txBox="1"/>
          <p:nvPr/>
        </p:nvSpPr>
        <p:spPr>
          <a:xfrm>
            <a:off x="496733" y="220970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O</a:t>
            </a:r>
            <a:r>
              <a:rPr lang="en-US" b="1" dirty="0" err="1"/>
              <a:t>ur</a:t>
            </a:r>
            <a:r>
              <a:rPr lang="en-US" b="1" dirty="0"/>
              <a:t> Opportunity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8EEC1-1046-E947-4395-D590F2C12647}"/>
              </a:ext>
            </a:extLst>
          </p:cNvPr>
          <p:cNvSpPr txBox="1"/>
          <p:nvPr/>
        </p:nvSpPr>
        <p:spPr>
          <a:xfrm>
            <a:off x="496733" y="480299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Your Partner in Research Excellence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3198D-19DF-43CF-17FA-15A44586618A}"/>
              </a:ext>
            </a:extLst>
          </p:cNvPr>
          <p:cNvSpPr txBox="1"/>
          <p:nvPr/>
        </p:nvSpPr>
        <p:spPr>
          <a:xfrm>
            <a:off x="496733" y="2072293"/>
            <a:ext cx="6094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Expertise: </a:t>
            </a:r>
            <a:r>
              <a:rPr lang="en-US" b="1" dirty="0"/>
              <a:t>150+ research projects</a:t>
            </a:r>
            <a:r>
              <a:rPr lang="en-US" dirty="0"/>
              <a:t> with proven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Leadership in EVO ICL implementation and patient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to a diverse patient database and state-of-the-art facilities. </a:t>
            </a:r>
          </a:p>
        </p:txBody>
      </p:sp>
    </p:spTree>
    <p:extLst>
      <p:ext uri="{BB962C8B-B14F-4D97-AF65-F5344CB8AC3E}">
        <p14:creationId xmlns:p14="http://schemas.microsoft.com/office/powerpoint/2010/main" val="336736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1301E8-C64E-2F20-1BFB-F4A48D028F73}"/>
              </a:ext>
            </a:extLst>
          </p:cNvPr>
          <p:cNvSpPr txBox="1"/>
          <p:nvPr/>
        </p:nvSpPr>
        <p:spPr>
          <a:xfrm>
            <a:off x="2997582" y="763146"/>
            <a:ext cx="1552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offer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3EAB4-02E1-1184-1609-75E4864C4D6E}"/>
              </a:ext>
            </a:extLst>
          </p:cNvPr>
          <p:cNvSpPr txBox="1"/>
          <p:nvPr/>
        </p:nvSpPr>
        <p:spPr>
          <a:xfrm>
            <a:off x="1911303" y="2103808"/>
            <a:ext cx="2165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Marketing/Consumer </a:t>
            </a:r>
            <a:r>
              <a:rPr lang="de-DE" dirty="0" err="1"/>
              <a:t>awareness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7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Aziza Guellouz</dc:creator>
  <cp:lastModifiedBy>Aziza Guellouz</cp:lastModifiedBy>
  <cp:revision>1</cp:revision>
  <dcterms:created xsi:type="dcterms:W3CDTF">2025-01-13T17:20:31Z</dcterms:created>
  <dcterms:modified xsi:type="dcterms:W3CDTF">2025-01-13T19:41:08Z</dcterms:modified>
</cp:coreProperties>
</file>